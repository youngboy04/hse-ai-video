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1a910406214d54" /><Relationship Type="http://schemas.openxmlformats.org/officeDocument/2006/relationships/extended-properties" Target="/docProps/app.xml" Id="R0fcf80d5a11547c1" /><Relationship Type="http://schemas.openxmlformats.org/officeDocument/2006/relationships/officeDocument" Target="/ppt/presentation.xml" Id="Rae50a1a3278b41ce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f1c325f6164448d4"/>
  </p:sldMasterIdLst>
  <p:notesMasterIdLst>
    <p:notesMasterId xmlns:r="http://schemas.openxmlformats.org/officeDocument/2006/relationships" r:id="Rb85b8507f79c4f11"/>
  </p:notesMasterIdLst>
  <p:sldIdLst>
    <p:sldId xmlns:r="http://schemas.openxmlformats.org/officeDocument/2006/relationships" id="256" r:id="Ra90988ba8f3748a0"/>
    <p:sldId xmlns:r="http://schemas.openxmlformats.org/officeDocument/2006/relationships" id="257" r:id="R8842686f912f4ef7"/>
    <p:sldId xmlns:r="http://schemas.openxmlformats.org/officeDocument/2006/relationships" id="258" r:id="Re29e8c7e8c4a47cf"/>
    <p:sldId xmlns:r="http://schemas.openxmlformats.org/officeDocument/2006/relationships" id="259" r:id="R870c0aed39e848f7"/>
    <p:sldId xmlns:r="http://schemas.openxmlformats.org/officeDocument/2006/relationships" id="260" r:id="R5aa01d95653049c7"/>
    <p:sldId xmlns:r="http://schemas.openxmlformats.org/officeDocument/2006/relationships" id="261" r:id="Rf0e5011da339423e"/>
    <p:sldId xmlns:r="http://schemas.openxmlformats.org/officeDocument/2006/relationships" id="262" r:id="Re58ece171c044eed"/>
    <p:sldId xmlns:r="http://schemas.openxmlformats.org/officeDocument/2006/relationships" id="263" r:id="R1ec8179ccb0641fd"/>
    <p:sldId xmlns:r="http://schemas.openxmlformats.org/officeDocument/2006/relationships" id="264" r:id="Re14da47d5e664917"/>
    <p:sldId xmlns:r="http://schemas.openxmlformats.org/officeDocument/2006/relationships" id="265" r:id="R7e2671ad9c5e418d"/>
    <p:sldId xmlns:r="http://schemas.openxmlformats.org/officeDocument/2006/relationships" id="266" r:id="Rc6bef24b61be441d"/>
    <p:sldId xmlns:r="http://schemas.openxmlformats.org/officeDocument/2006/relationships" id="267" r:id="Rc1391b1f6a06417a"/>
    <p:sldId xmlns:r="http://schemas.openxmlformats.org/officeDocument/2006/relationships" id="268" r:id="Rfe3720068c174af6"/>
    <p:sldId xmlns:r="http://schemas.openxmlformats.org/officeDocument/2006/relationships" id="269" r:id="R450ff7e0c18d4ab5"/>
  </p:sldIdLst>
  <p:sldSz cx="12192000" cy="6858000"/>
  <p:notesSz cx="6858000" cy="9144000"/>
  <p:embeddedFontLst>
    <p:embeddedFont>
      <p:font typeface="PF Centro Sans Pro"/>
      <p:regular xmlns:r="http://schemas.openxmlformats.org/officeDocument/2006/relationships" r:id="R6ddb875ef6664397"/>
      <p:bold xmlns:r="http://schemas.openxmlformats.org/officeDocument/2006/relationships" r:id="Rbc9089779b3e4736"/>
      <p:italic xmlns:r="http://schemas.openxmlformats.org/officeDocument/2006/relationships" r:id="R3f512aa40c594bfa"/>
      <p:boldItalic xmlns:r="http://schemas.openxmlformats.org/officeDocument/2006/relationships" r:id="R44adb640d54544f1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ffd62762d740b5" /><Relationship Type="http://schemas.openxmlformats.org/officeDocument/2006/relationships/slideMaster" Target="/ppt/slideMasters/slideMaster1.xml" Id="Rf1c325f6164448d4" /><Relationship Type="http://schemas.openxmlformats.org/officeDocument/2006/relationships/notesMaster" Target="/ppt/notesMasters/notesMaster1.xml" Id="Rb85b8507f79c4f11" /><Relationship Type="http://schemas.openxmlformats.org/officeDocument/2006/relationships/presProps" Target="/ppt/presProps.xml" Id="R022ee5367d4646cb" /><Relationship Type="http://schemas.openxmlformats.org/officeDocument/2006/relationships/viewProps" Target="/ppt/viewProps.xml" Id="Rd728f880de764830" /><Relationship Type="http://schemas.openxmlformats.org/officeDocument/2006/relationships/tableStyles" Target="/ppt/tableStyles.xml" Id="Rb937278fec284863" /><Relationship Type="http://schemas.openxmlformats.org/officeDocument/2006/relationships/font" Target="/ppt/fonts/font.dat" Id="R6ddb875ef6664397" /><Relationship Type="http://schemas.openxmlformats.org/officeDocument/2006/relationships/font" Target="/ppt/fonts/font2.dat" Id="Rbc9089779b3e4736" /><Relationship Type="http://schemas.openxmlformats.org/officeDocument/2006/relationships/font" Target="/ppt/fonts/font3.dat" Id="R3f512aa40c594bfa" /><Relationship Type="http://schemas.openxmlformats.org/officeDocument/2006/relationships/font" Target="/ppt/fonts/font4.dat" Id="R44adb640d54544f1" /><Relationship Type="http://schemas.openxmlformats.org/officeDocument/2006/relationships/slide" Target="/ppt/slides/slide1.xml" Id="Ra90988ba8f3748a0" /><Relationship Type="http://schemas.openxmlformats.org/officeDocument/2006/relationships/slide" Target="/ppt/slides/slide2.xml" Id="R8842686f912f4ef7" /><Relationship Type="http://schemas.openxmlformats.org/officeDocument/2006/relationships/slide" Target="/ppt/slides/slide3.xml" Id="Re29e8c7e8c4a47cf" /><Relationship Type="http://schemas.openxmlformats.org/officeDocument/2006/relationships/slide" Target="/ppt/slides/slide4.xml" Id="R870c0aed39e848f7" /><Relationship Type="http://schemas.openxmlformats.org/officeDocument/2006/relationships/slide" Target="/ppt/slides/slide5.xml" Id="R5aa01d95653049c7" /><Relationship Type="http://schemas.openxmlformats.org/officeDocument/2006/relationships/slide" Target="/ppt/slides/slide6.xml" Id="Rf0e5011da339423e" /><Relationship Type="http://schemas.openxmlformats.org/officeDocument/2006/relationships/slide" Target="/ppt/slides/slide7.xml" Id="Re58ece171c044eed" /><Relationship Type="http://schemas.openxmlformats.org/officeDocument/2006/relationships/slide" Target="/ppt/slides/slide8.xml" Id="R1ec8179ccb0641fd" /><Relationship Type="http://schemas.openxmlformats.org/officeDocument/2006/relationships/slide" Target="/ppt/slides/slide9.xml" Id="Re14da47d5e664917" /><Relationship Type="http://schemas.openxmlformats.org/officeDocument/2006/relationships/slide" Target="/ppt/slides/slide10.xml" Id="R7e2671ad9c5e418d" /><Relationship Type="http://schemas.openxmlformats.org/officeDocument/2006/relationships/slide" Target="/ppt/slides/slide11.xml" Id="Rc6bef24b61be441d" /><Relationship Type="http://schemas.openxmlformats.org/officeDocument/2006/relationships/slide" Target="/ppt/slides/slide12.xml" Id="Rc1391b1f6a06417a" /><Relationship Type="http://schemas.openxmlformats.org/officeDocument/2006/relationships/slide" Target="/ppt/slides/slide13.xml" Id="Rfe3720068c174af6" /><Relationship Type="http://schemas.openxmlformats.org/officeDocument/2006/relationships/slide" Target="/ppt/slides/slide14.xml" Id="R450ff7e0c18d4a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e2b07b11cf44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78da77d5794e6d" /><Relationship Type="http://schemas.openxmlformats.org/officeDocument/2006/relationships/notesMaster" Target="/ppt/notesMasters/notesMaster1.xml" Id="R122d78cc622045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e974f8d68d412f" /><Relationship Type="http://schemas.openxmlformats.org/officeDocument/2006/relationships/notesMaster" Target="/ppt/notesMasters/notesMaster1.xml" Id="Rb80f80e7bf7c49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8b96cea4e04ac3" /><Relationship Type="http://schemas.openxmlformats.org/officeDocument/2006/relationships/notesMaster" Target="/ppt/notesMasters/notesMaster1.xml" Id="Rcf2b7cee65524f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6e5a1dca1b4749" /><Relationship Type="http://schemas.openxmlformats.org/officeDocument/2006/relationships/notesMaster" Target="/ppt/notesMasters/notesMaster1.xml" Id="Rea96128106b54d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40299dfa4141fd" /><Relationship Type="http://schemas.openxmlformats.org/officeDocument/2006/relationships/notesMaster" Target="/ppt/notesMasters/notesMaster1.xml" Id="R0abc5e33f90a47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aab228c6c654856" /><Relationship Type="http://schemas.openxmlformats.org/officeDocument/2006/relationships/notesMaster" Target="/ppt/notesMasters/notesMaster1.xml" Id="R87f3896ccde7448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26b34ade72f49d7" /><Relationship Type="http://schemas.openxmlformats.org/officeDocument/2006/relationships/notesMaster" Target="/ppt/notesMasters/notesMaster1.xml" Id="Re039cc6883c74d7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fd427d658040dc" /><Relationship Type="http://schemas.openxmlformats.org/officeDocument/2006/relationships/notesMaster" Target="/ppt/notesMasters/notesMaster1.xml" Id="R62f3d4d3fdc94f9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656d10b830f4473" /><Relationship Type="http://schemas.openxmlformats.org/officeDocument/2006/relationships/notesMaster" Target="/ppt/notesMasters/notesMaster1.xml" Id="R9c955cb11423408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fe56c6f8af64dad" /><Relationship Type="http://schemas.openxmlformats.org/officeDocument/2006/relationships/notesMaster" Target="/ppt/notesMasters/notesMaster1.xml" Id="R828dab0ed61b495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1de82fe5aee4921" /><Relationship Type="http://schemas.openxmlformats.org/officeDocument/2006/relationships/notesMaster" Target="/ppt/notesMasters/notesMaster1.xml" Id="R7cc0be5b7d984bc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5ebeb8617e14553" /><Relationship Type="http://schemas.openxmlformats.org/officeDocument/2006/relationships/notesMaster" Target="/ppt/notesMasters/notesMaster1.xml" Id="Rf997f527fcca426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b238cdd95d04381" /><Relationship Type="http://schemas.openxmlformats.org/officeDocument/2006/relationships/notesMaster" Target="/ppt/notesMasters/notesMaster1.xml" Id="Rff25689ccf0841c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3271dd46a204823" /><Relationship Type="http://schemas.openxmlformats.org/officeDocument/2006/relationships/notesMaster" Target="/ppt/notesMasters/notesMaster1.xml" Id="R38959127fdbb45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Материалы на 30.09.2026. Финансовые и рыночные значения являются расчётными допущениями, не фактическими результатами. Исходный шаблон: https://disk.yandex.ru/i/c1y-P05091tw9A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Материалы на 30.09.2026. Финансовые и рыночные значения являются расчётными допущениями, не фактическими результатами. Исходный шаблон: https://disk.yandex.ru/i/c1y-P05091tw9A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Материалы на 30.09.2026. Финансовые и рыночные значения являются расчётными допущениями, не фактическими результатами. Исходный шаблон: https://disk.yandex.ru/i/c1y-P05091tw9A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Материалы на 30.09.2026. Финансовые и рыночные значения являются расчётными допущениями, не фактическими результатами. Исходный шаблон: https://disk.yandex.ru/i/c1y-P05091tw9A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Материалы на 30.09.2026. Финансовые и рыночные значения являются расчётными допущениями, не фактическими результатами. Исходный шаблон: https://disk.yandex.ru/i/c1y-P05091tw9A</a:t>
            </a:r>
          </a:p>
          <a:p xmlns:a="http://schemas.openxmlformats.org/drawingml/2006/main">
            <a:r>
              <a:t>TRASSIR: https://trassir.ru/products/programmnoe_obespechenie_trassir/trassir_videoanalitika/trassir_hardhat_detector/</a:t>
            </a:r>
          </a:p>
          <a:p xmlns:a="http://schemas.openxmlformats.org/drawingml/2006/main">
            <a:r>
              <a:t>EYECONT: https://www.mallenom.ru/products/eyecont/eyecont_vms/Kontrol-SIZ</a:t>
            </a:r>
          </a:p>
          <a:p xmlns:a="http://schemas.openxmlformats.org/drawingml/2006/main">
            <a:r>
              <a:t>NtechLab: https://ntechlab.ru/</a:t>
            </a:r>
          </a:p>
          <a:p xmlns:a="http://schemas.openxmlformats.org/drawingml/2006/main">
            <a:r>
              <a:t>Проверено 30.09.2026. Здесь сравнивается заявленный функционал, а не результаты сравнительных испытаний.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Материалы на 30.09.2026. Финансовые и рыночные значения являются расчётными допущениями, не фактическими результатами. Исходный шаблон: https://disk.yandex.ru/i/c1y-P05091tw9A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Материалы на 30.09.2026. Финансовые и рыночные значения являются расчётными допущениями, не фактическими результатами. Исходный шаблон: https://disk.yandex.ru/i/c1y-P05091tw9A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Материалы на 30.09.2026. Финансовые и рыночные значения являются расчётными допущениями, не фактическими результатами. Исходный шаблон: https://disk.yandex.ru/i/c1y-P05091tw9A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Материалы на 30.09.2026. Финансовые и рыночные значения являются расчётными допущениями, не фактическими результатами. Исходный шаблон: https://disk.yandex.ru/i/c1y-P05091tw9A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Материалы на 30.09.2026. Финансовые и рыночные значения являются расчётными допущениями, не фактическими результатами. Исходный шаблон: https://disk.yandex.ru/i/c1y-P05091tw9A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Материалы на 30.09.2026. Финансовые и рыночные значения являются расчётными допущениями, не фактическими результатами. Исходный шаблон: https://disk.yandex.ru/i/c1y-P05091tw9A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Материалы на 30.09.2026. Финансовые и рыночные значения являются расчётными допущениями, не фактическими результатами. Исходный шаблон: https://disk.yandex.ru/i/c1y-P05091tw9A</a:t>
            </a:r>
          </a:p>
          <a:p xmlns:a="http://schemas.openxmlformats.org/drawingml/2006/main">
            <a:r>
              <a:t>Предобученная модель Ultralytics YOLO11n, собственное обучение не выполнялось. Модель: https://docs.ultralytics.com/models/yolo11/; набор: https://docs.ultralytics.com/datasets/detect/coco8/. COCO8 происходит из COCO train2017; пересечение с обучением возможно. Протокол: docs/evidence/report.json и report.html; confidence=0.35, IoU=0.5, CPUExecutionProvider, 3 прогрева, 8 измерений; TP=4, FP=0, FN=6; медиана 77.21 мс, p95 114.38 мс. Хеш ONNX: a219f5401fb1af4d2cb01027d8e6e500b0f5e519ffbaeccbead57c375c75de07. Видео: Two construction workers, Mixkit #1436, https://mixkit.co/free-stock-video/two-construction-workers-1436/; Mixkit Stock Video Free License: https://mixkit.co/license/#videoFree. Добавлены рамки и подписи реальных результатов, это не видео пилотного предприятия. Протокол: public/samples/workers-analysis.json; 127 анализируемых кадров, 8 кадров/с, ID 1 и 2. Точность по этому видео не измерялась. СИЗ, события и падения не оцениваются.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Материалы на 30.09.2026. Финансовые и рыночные значения являются расчётными допущениями, не фактическими результатами. Исходный шаблон: https://disk.yandex.ru/i/c1y-P05091tw9A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Материалы на 30.09.2026. Финансовые и рыночные значения являются расчётными допущениями, не фактическими результатами. Исходный шаблон: https://disk.yandex.ru/i/c1y-P05091tw9A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ca88cc9045414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0b38257b294c9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49e1b3290f44a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76e214ed7f480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d607b3206a414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b64b96661a4cf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2711cd38ff491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d2afd5ea77475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3090cf810c4aa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199df014714fa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d579149e97479c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37A78C9-49E7-400D-B7FE-FCAC7E5D453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BB456D2-2C65-4510-9219-D5CED78ABBC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7390CF4-8925-44DE-B842-B8E899E648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627CB50-25DB-4754-870B-3324F7578979}" type="datetimeFigureOut">
              <a:t>17.05.2026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D6688E0-F8DA-4C7C-A99A-A4F36A1F931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5E07B8F-F30D-4BF1-ADF6-8CFC7861882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628785-88D2-4034-83E5-3DAE35A9F6D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44E379E-699A-4336-92B2-C40AE35378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30A1F42-718A-44DF-B78D-FB1B586155D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14BE9CA-2993-4473-BB65-6CE1FCE071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627CB50-25DB-4754-870B-3324F7578979}" type="datetimeFigureOut">
              <a:t>17.05.2026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AAA1245-4768-42B3-A33F-365BED43272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AD63538-5A6F-48B7-8CDB-519A7F8D459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628785-88D2-4034-83E5-3DAE35A9F6D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01626C-3B6B-407C-8A8B-0AFB645AA1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9002309-6085-4FDF-A7B9-FB18CA9209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802F0D4-CD28-4B8A-B7C4-D5FE76E8E75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627CB50-25DB-4754-870B-3324F7578979}" type="datetimeFigureOut">
              <a:t>17.05.2026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205E2FD-6504-48E5-9EA1-FF331F3DC00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D69293F-5D61-4D16-9A44-B48A907F34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628785-88D2-4034-83E5-3DAE35A9F6D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21D26BB-4AAC-479E-9845-5949DEA961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FC45983-8FB0-4CC5-B3E4-A4F1C6E800D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1B83C9C-F886-4A45-A722-98AB7946E0B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65D17EF-8F8A-4A09-8176-4796F992F3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627CB50-25DB-4754-870B-3324F7578979}" type="datetimeFigureOut">
              <a:t>17.05.2026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B4AEE9E-10C0-4D97-AF99-554DC9169B1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4E88BC0-5BB6-4072-B774-59FAFB5923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628785-88D2-4034-83E5-3DAE35A9F6D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3B90992-9B71-4B7E-B274-D75C325DF2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850990D-C697-4EA9-BF0A-E03E98B82C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7C37648-47AE-4EC0-BDA9-B40018C5926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D26546FC-2DE1-4ACF-916E-86EC356DE3E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C4F26F22-6E5F-4F91-8E6D-A1C29C3C02C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4DE2B733-C605-4E7C-9A5C-BE69206C9CC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627CB50-25DB-4754-870B-3324F7578979}" type="datetimeFigureOut">
              <a:t>17.05.2026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8F2A94F7-D29F-46B4-97E5-44720FA477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1AC81C9C-2848-4301-BCC6-D831322B1D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628785-88D2-4034-83E5-3DAE35A9F6DB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E9B9535-21EC-4565-9316-D7BE54DF56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DE162F27-312F-4B1C-9965-5975063529B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627CB50-25DB-4754-870B-3324F7578979}" type="datetimeFigureOut">
              <a:t>17.05.2026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BC39294A-8C0C-4FC3-8A1A-45172DB5E83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70580E6C-3124-454C-9424-BBF9566B36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628785-88D2-4034-83E5-3DAE35A9F6DB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5C8C8B7D-ADD3-46F6-88DA-5085B9EC53C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627CB50-25DB-4754-870B-3324F7578979}" type="datetimeFigureOut">
              <a:t>17.05.2026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41BC4F0B-2B45-44DC-9B0F-6BB8C64E8E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8318AF34-40B3-4876-B530-AE0E7851DFA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628785-88D2-4034-83E5-3DAE35A9F6DB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6AFD48-E2CE-4A94-A101-4982A5E28E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49965D2-5F9B-48E3-99FF-2AE30B57758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20D7D3B-9EC6-4B08-8A07-3CD5FE7BB3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2A5BFD9-B368-48BE-9525-CF87A221396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627CB50-25DB-4754-870B-3324F7578979}" type="datetimeFigureOut">
              <a:t>17.05.2026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9CCE4A3-0C26-45AD-8B52-74A927F8746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AA12C86-9A81-4AEE-B5CB-4B987619A3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628785-88D2-4034-83E5-3DAE35A9F6D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E1F3307-3D54-414F-93AB-62E493C324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83E799E6-CEBE-4739-98D7-2CF0DEF223A3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54D891B-277E-4939-813A-92EC0EC324A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6610F39-C12E-4256-84EA-3DE034668B0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627CB50-25DB-4754-870B-3324F7578979}" type="datetimeFigureOut">
              <a:t>17.05.2026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81E2209-78A2-4010-926D-15516BD41FA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F9AFA67-F76C-45B2-94CB-74DD8A8715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628785-88D2-4034-83E5-3DAE35A9F6D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0FDF7E2-EE14-4A47-953F-FAB405F5F3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AF4EBC4-51D9-4187-931C-9D278ACABA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6CEE8AD-82FB-4B8E-80C9-8B9511F17AC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627CB50-25DB-4754-870B-3324F7578979}" type="datetimeFigureOut">
              <a:t>17.05.2026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6AD075A-312B-4671-B965-22E075D33D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9747E73-CC9C-4DF9-8AAE-4AC46591EFE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628785-88D2-4034-83E5-3DAE35A9F6DB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A8701BF8-8142-407D-8E5B-A19EA21FD2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D1E8C59-461C-4D5B-982F-BFA09C9605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86C2AB3-ECDC-473D-9539-D987564C9F6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627CB50-25DB-4754-870B-3324F7578979}" type="datetimeFigureOut">
              <a:t>17.05.2026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9C6F6B7-5900-46E2-BA00-F11A92D61C9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A14419A-600E-4D0A-8FA0-7FAAAB93DB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A628785-88D2-4034-83E5-3DAE35A9F6DB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956e5c226e4867" /><Relationship Type="http://schemas.openxmlformats.org/officeDocument/2006/relationships/slideLayout" Target="/ppt/slideLayouts/slideLayout1.xml" Id="R840b1887805141ff" /><Relationship Type="http://schemas.openxmlformats.org/officeDocument/2006/relationships/slideLayout" Target="/ppt/slideLayouts/slideLayout2.xml" Id="R67878c88d16941af" /><Relationship Type="http://schemas.openxmlformats.org/officeDocument/2006/relationships/slideLayout" Target="/ppt/slideLayouts/slideLayout3.xml" Id="Re295881707e94848" /><Relationship Type="http://schemas.openxmlformats.org/officeDocument/2006/relationships/slideLayout" Target="/ppt/slideLayouts/slideLayout4.xml" Id="R9528433ccd6c4f1b" /><Relationship Type="http://schemas.openxmlformats.org/officeDocument/2006/relationships/slideLayout" Target="/ppt/slideLayouts/slideLayout5.xml" Id="R200199b2db26469c" /><Relationship Type="http://schemas.openxmlformats.org/officeDocument/2006/relationships/slideLayout" Target="/ppt/slideLayouts/slideLayout6.xml" Id="R888887b3324044f8" /><Relationship Type="http://schemas.openxmlformats.org/officeDocument/2006/relationships/slideLayout" Target="/ppt/slideLayouts/slideLayout7.xml" Id="Rc02790c4b5a54c9f" /><Relationship Type="http://schemas.openxmlformats.org/officeDocument/2006/relationships/slideLayout" Target="/ppt/slideLayouts/slideLayout8.xml" Id="Rd345455bc671437e" /><Relationship Type="http://schemas.openxmlformats.org/officeDocument/2006/relationships/slideLayout" Target="/ppt/slideLayouts/slideLayout9.xml" Id="R039b3b6f26c34d8d" /><Relationship Type="http://schemas.openxmlformats.org/officeDocument/2006/relationships/slideLayout" Target="/ppt/slideLayouts/slideLayout10.xml" Id="R8f9a946136344457" /><Relationship Type="http://schemas.openxmlformats.org/officeDocument/2006/relationships/slideLayout" Target="/ppt/slideLayouts/slideLayout11.xml" Id="Rd49a2a44a9434ad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E39032-2E06-44EA-A69B-B4C409301F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5528075-C618-44CC-9589-9B3520B5022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13CFC37-1647-45CD-B52C-296710E58D1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3627CB50-25DB-4754-870B-3324F7578979}" type="datetimeFigureOut">
              <a:t>17.05.2026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965F549-C89B-4F52-87B7-763F6DD8731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2614DCF-02D7-4E6B-BA3D-5113BEED363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A628785-88D2-4034-83E5-3DAE35A9F6D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0b1887805141ff"/>
    <p:sldLayoutId xmlns:r="http://schemas.openxmlformats.org/officeDocument/2006/relationships" id="2147483650" r:id="R67878c88d16941af"/>
    <p:sldLayoutId xmlns:r="http://schemas.openxmlformats.org/officeDocument/2006/relationships" id="2147483651" r:id="Re295881707e94848"/>
    <p:sldLayoutId xmlns:r="http://schemas.openxmlformats.org/officeDocument/2006/relationships" id="2147483652" r:id="R9528433ccd6c4f1b"/>
    <p:sldLayoutId xmlns:r="http://schemas.openxmlformats.org/officeDocument/2006/relationships" id="2147483653" r:id="R200199b2db26469c"/>
    <p:sldLayoutId xmlns:r="http://schemas.openxmlformats.org/officeDocument/2006/relationships" id="2147483654" r:id="R888887b3324044f8"/>
    <p:sldLayoutId xmlns:r="http://schemas.openxmlformats.org/officeDocument/2006/relationships" id="2147483655" r:id="Rc02790c4b5a54c9f"/>
    <p:sldLayoutId xmlns:r="http://schemas.openxmlformats.org/officeDocument/2006/relationships" id="2147483656" r:id="Rd345455bc671437e"/>
    <p:sldLayoutId xmlns:r="http://schemas.openxmlformats.org/officeDocument/2006/relationships" id="2147483657" r:id="R039b3b6f26c34d8d"/>
    <p:sldLayoutId xmlns:r="http://schemas.openxmlformats.org/officeDocument/2006/relationships" id="2147483658" r:id="R8f9a946136344457"/>
    <p:sldLayoutId xmlns:r="http://schemas.openxmlformats.org/officeDocument/2006/relationships" id="2147483659" r:id="Rd49a2a44a9434ad4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b8ac5dcc8544da" /><Relationship Type="http://schemas.openxmlformats.org/officeDocument/2006/relationships/image" Target="/ppt/media/image.png" Id="Rb6d901e0237c4a28" /><Relationship Type="http://schemas.openxmlformats.org/officeDocument/2006/relationships/image" Target="/ppt/media/image.jpeg" Id="R9c73d872209748a3" /><Relationship Type="http://schemas.openxmlformats.org/officeDocument/2006/relationships/image" Target="/ppt/media/image2.png" Id="Re87ed34a6a1a4f57" /><Relationship Type="http://schemas.openxmlformats.org/officeDocument/2006/relationships/notesSlide" Target="/ppt/notesSlides/notesSlide1.xml" Id="R5e570cb4bb0049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697d22b93d413e" /><Relationship Type="http://schemas.openxmlformats.org/officeDocument/2006/relationships/image" Target="/ppt/media/image.jpeg" Id="R6b7edbc4696e47bb" /><Relationship Type="http://schemas.openxmlformats.org/officeDocument/2006/relationships/notesSlide" Target="/ppt/notesSlides/notesSlide2.xml" Id="R26bb0df634b04b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ba5b6a36e84b64" /><Relationship Type="http://schemas.openxmlformats.org/officeDocument/2006/relationships/image" Target="/ppt/media/image.jpeg" Id="Rf93ecaccab6541e9" /><Relationship Type="http://schemas.openxmlformats.org/officeDocument/2006/relationships/notesSlide" Target="/ppt/notesSlides/notesSlide3.xml" Id="R67f83a18b7794f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1a5de6ba344d1d" /><Relationship Type="http://schemas.openxmlformats.org/officeDocument/2006/relationships/image" Target="/ppt/media/image.jpeg" Id="R48c42037468b4f01" /><Relationship Type="http://schemas.openxmlformats.org/officeDocument/2006/relationships/image" Target="/ppt/media/image3.png" Id="Rd1b4047f6d864132" /><Relationship Type="http://schemas.openxmlformats.org/officeDocument/2006/relationships/notesSlide" Target="/ppt/notesSlides/notesSlide4.xml" Id="R9ceb08b2347d4d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7373bcf51d45df" /><Relationship Type="http://schemas.openxmlformats.org/officeDocument/2006/relationships/image" Target="/ppt/media/image.jpeg" Id="R4577912602ab4c50" /><Relationship Type="http://schemas.openxmlformats.org/officeDocument/2006/relationships/notesSlide" Target="/ppt/notesSlides/notesSlide5.xml" Id="Rdd762b13f4134d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01af7005274ce8" /><Relationship Type="http://schemas.openxmlformats.org/officeDocument/2006/relationships/image" Target="/ppt/media/image.jpeg" Id="R0cf9c68bfb2840c3" /><Relationship Type="http://schemas.openxmlformats.org/officeDocument/2006/relationships/notesSlide" Target="/ppt/notesSlides/notesSlide6.xml" Id="Rb2c9ce16e121409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198192b65542b4" /><Relationship Type="http://schemas.openxmlformats.org/officeDocument/2006/relationships/image" Target="/ppt/media/image.jpeg" Id="Ra0e17d4c60334ac9" /><Relationship Type="http://schemas.openxmlformats.org/officeDocument/2006/relationships/notesSlide" Target="/ppt/notesSlides/notesSlide7.xml" Id="Rd0a1a3599d33411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b03bd6e6274d6b" /><Relationship Type="http://schemas.openxmlformats.org/officeDocument/2006/relationships/image" Target="/ppt/media/image.jpeg" Id="R5fbe61280d1c49ff" /><Relationship Type="http://schemas.openxmlformats.org/officeDocument/2006/relationships/notesSlide" Target="/ppt/notesSlides/notesSlide8.xml" Id="R326b3a22502e4f4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aa33b00bdf4a7b" /><Relationship Type="http://schemas.openxmlformats.org/officeDocument/2006/relationships/image" Target="/ppt/media/image.jpeg" Id="Raa25a71a42f94c8d" /><Relationship Type="http://schemas.openxmlformats.org/officeDocument/2006/relationships/notesSlide" Target="/ppt/notesSlides/notesSlide9.xml" Id="Rdc73444a233542b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d02fc81479430e" /><Relationship Type="http://schemas.openxmlformats.org/officeDocument/2006/relationships/image" Target="/ppt/media/image.jpeg" Id="R3cb9ba872cb94c98" /><Relationship Type="http://schemas.openxmlformats.org/officeDocument/2006/relationships/notesSlide" Target="/ppt/notesSlides/notesSlide10.xml" Id="Ra2f379ab6e564e8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26c9836daf46f6" /><Relationship Type="http://schemas.openxmlformats.org/officeDocument/2006/relationships/image" Target="/ppt/media/image.jpeg" Id="R817fd701a0144331" /><Relationship Type="http://schemas.openxmlformats.org/officeDocument/2006/relationships/notesSlide" Target="/ppt/notesSlides/notesSlide11.xml" Id="R9aead8b836bb4a1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8422dae53c41e1" /><Relationship Type="http://schemas.openxmlformats.org/officeDocument/2006/relationships/image" Target="/ppt/media/image.jpeg" Id="Rab0b8baf9f954b8e" /><Relationship Type="http://schemas.openxmlformats.org/officeDocument/2006/relationships/image" Target="/ppt/media/image4.png" Id="Rc4df3a36bb4b411b" /><Relationship Type="http://schemas.openxmlformats.org/officeDocument/2006/relationships/notesSlide" Target="/ppt/notesSlides/notesSlide12.xml" Id="R84e9b75261bc4cc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a84d2e810d4028" /><Relationship Type="http://schemas.openxmlformats.org/officeDocument/2006/relationships/image" Target="/ppt/media/image.jpeg" Id="Rf8bd709f1ab049a2" /><Relationship Type="http://schemas.openxmlformats.org/officeDocument/2006/relationships/notesSlide" Target="/ppt/notesSlides/notesSlide13.xml" Id="Ra75805ad17da4ae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22d9183c884239" /><Relationship Type="http://schemas.openxmlformats.org/officeDocument/2006/relationships/image" Target="/ppt/media/image.jpeg" Id="R7cbde368816c4d2a" /><Relationship Type="http://schemas.openxmlformats.org/officeDocument/2006/relationships/notesSlide" Target="/ppt/notesSlides/notesSlide14.xml" Id="R412c47621e6541a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CF967BC-7F92-467A-8248-E3EA1CA36C2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238875" y="1095375"/>
            <a:ext cx="5619750" cy="404812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875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HSE AI-Video</a:t>
            </a:r>
          </a:p>
          <a:p xmlns:a="http://schemas.openxmlformats.org/drawingml/2006/main">
            <a:pPr algn="l">
              <a:buNone/>
              <a:defRPr sz="1875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875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Платформа видеоаналитики</a:t>
            </a:r>
          </a:p>
          <a:p xmlns:a="http://schemas.openxmlformats.org/drawingml/2006/main">
            <a:pPr algn="l">
              <a:buNone/>
              <a:defRPr sz="1875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875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для контроля охраны труда</a:t>
            </a:r>
          </a:p>
          <a:p xmlns:a="http://schemas.openxmlformats.org/drawingml/2006/main">
            <a:pPr algn="l">
              <a:buNone/>
            </a:pPr>
            <a:r>
              <a:t/>
            </a:r>
          </a:p>
          <a:p xmlns:a="http://schemas.openxmlformats.org/drawingml/2006/main">
            <a:pPr algn="l">
              <a:buNone/>
              <a:defRPr sz="1875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875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Павлов Иван Владимирович</a:t>
            </a:r>
          </a:p>
          <a:p xmlns:a="http://schemas.openxmlformats.org/drawingml/2006/main">
            <a:pPr algn="l">
              <a:buNone/>
              <a:defRPr sz="1875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875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Инициатор проекта</a:t>
            </a:r>
          </a:p>
          <a:p xmlns:a="http://schemas.openxmlformats.org/drawingml/2006/main">
            <a:pPr algn="l">
              <a:buNone/>
              <a:defRPr sz="1875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875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Фролов Денис</a:t>
            </a:r>
          </a:p>
          <a:p xmlns:a="http://schemas.openxmlformats.org/drawingml/2006/main">
            <a:pPr algn="l">
              <a:buNone/>
              <a:defRPr sz="1875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875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Разработчик программной платформы</a:t>
            </a:r>
          </a:p>
          <a:p xmlns:a="http://schemas.openxmlformats.org/drawingml/2006/main">
            <a:pPr algn="l">
              <a:buNone/>
            </a:pPr>
            <a:r>
              <a:t/>
            </a:r>
          </a:p>
          <a:p xmlns:a="http://schemas.openxmlformats.org/drawingml/2006/main">
            <a:pPr algn="l">
              <a:buNone/>
              <a:defRPr sz="1875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875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ivanp246459@gmail.com</a:t>
            </a:r>
          </a:p>
          <a:p xmlns:a="http://schemas.openxmlformats.org/drawingml/2006/main">
            <a:pPr algn="l">
              <a:buNone/>
              <a:defRPr sz="1875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875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+7 987 663-19-62 | 30 сентября 2026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E50DD69-0920-4926-9D66-DB662D50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15630"/>
            <a:ext cx="12192000" cy="144237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dk1">
              <a:shade val="50000"/>
            </a:schemeClr>
          </a:lnRef>
          <a:fillRef xmlns:a="http://schemas.openxmlformats.org/drawingml/2006/main" idx="1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07E2E39-6195-4F70-96DF-19A819A2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79630"/>
            <a:ext cx="12192000" cy="72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591E0F7-EEFE-4E8C-94A7-986C3D31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637" y="5832101"/>
            <a:ext cx="11439842" cy="523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>
                <a:solidFill>
                  <a:srgbClr val="FFFFFF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2775">
                <a:solidFill>
                  <a:srgbClr val="FFFFFF"/>
                </a:solidFill>
                <a:latin typeface="PF Centro Sans Pro"/>
                <a:ea typeface="PF Centro Sans Pro"/>
                <a:cs typeface="PF Centro Sans Pro"/>
              </a:rPr>
              <a:t>Конкурсная работа: «HSE AI-Video»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6F4A1C5-529B-B95E-7E73-D61094EB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02" y="345939"/>
            <a:ext cx="3264768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>
                <a:latin typeface="PF Centro Sans Pro"/>
                <a:ea typeface="PF Centro Sans Pro"/>
                <a:cs typeface="PF Centro Sans Pro"/>
              </a:rPr>
              <a:t/>
            </a:r>
          </a:p>
        </p:txBody>
      </p:sp>
      <p:sp>
        <p:nvSpPr>
          <p:cNvPr id="8" name="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B979F07A-81A3-4BD1-A32A-8040BE69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637" y="321444"/>
            <a:ext cx="5156488" cy="4699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ysClr val="window" lastClr="FFFFFF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d901e0237c4a28">
            <a:biLevel thresh="5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95493" y="55954"/>
            <a:ext cx="2820474" cy="5845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2" name="Рисунок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73d872209748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95493" y="566073"/>
            <a:ext cx="2138400" cy="190851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7ed34a6a1a4f57"/>
          <a:stretch xmlns:a="http://schemas.openxmlformats.org/drawingml/2006/main"/>
        </p:blipFill>
        <p:spPr>
          <a:xfrm xmlns:a="http://schemas.openxmlformats.org/drawingml/2006/main">
            <a:off x="542925" y="806318"/>
            <a:ext cx="5153025" cy="357849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EAE69A-B77C-4082-94D8-388D3E06A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5048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575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Интерфейс программного прототипа</a:t>
            </a:r>
          </a:p>
          <a:p xmlns:a="http://schemas.openxmlformats.org/drawingml/2006/main">
            <a:pPr algn="l">
              <a:defRPr sz="1575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575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Моделируемые потоки и события</a:t>
            </a:r>
          </a:p>
        </p:txBody>
      </p:sp>
    </p:spTree>
    <p:extLst>
      <p:ext uri="{BB962C8B-B14F-4D97-AF65-F5344CB8AC3E}">
        <p14:creationId xmlns:p14="http://schemas.microsoft.com/office/powerpoint/2010/main" val="306220008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E553BD5-55A6-4781-A6B3-6E09B1BE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93112"/>
            <a:ext cx="12192000" cy="86505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dk1">
              <a:shade val="50000"/>
            </a:schemeClr>
          </a:lnRef>
          <a:fillRef xmlns:a="http://schemas.openxmlformats.org/drawingml/2006/main" idx="1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538F1D7-B17C-4C82-A610-3E6633D3A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93111"/>
            <a:ext cx="12192000" cy="817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5C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C60390D-C1AF-4879-974C-662577E0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418" y="6126450"/>
            <a:ext cx="640080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chemeClr val="bg1"/>
                </a:solidFill>
                <a:latin typeface="PF Centro Sans Pro"/>
                <a:ea typeface="PF Centro Sans Pro"/>
                <a:cs typeface="PF Centro Sans Pro"/>
              </a:rPr>
              <a:t>Резюме проекта (концепция)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C6FD24B-AC62-4B03-34AE-0387167A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71500"/>
            <a:ext cx="10572750" cy="2762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875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Назначение: автоматизированный контроль охраны труда по видеоданным. Базовый сценарий: регистрация присутствия человека в опасной зоне с агрегацией событий в инцидент.</a:t>
            </a:r>
            <a:endParaRPr/>
          </a:p>
          <a:p xmlns:a="http://schemas.openxmlformats.org/drawingml/2006/main">
            <a:r>
              <a:rPr sz="1800"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 algn="l">
              <a:buNone/>
              <a:defRPr sz="1875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875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Цель апробации: испытания на 1–2 участках с оценкой ошибок, задержки обработки и трудозатрат оператора.</a:t>
            </a:r>
          </a:p>
          <a:p xmlns:a="http://schemas.openxmlformats.org/drawingml/2006/main">
            <a:pPr algn="just">
              <a:buNone/>
            </a:pPr>
            <a:r>
              <a:rPr sz="1600">
                <a:latin typeface="PF Centro Sans Pro"/>
                <a:ea typeface="PF Centro Sans Pro"/>
                <a:cs typeface="PF Centro Sans Pro"/>
              </a:rPr>
              <a:t/>
            </a:r>
          </a:p>
          <a:p xmlns:a="http://schemas.openxmlformats.org/drawingml/2006/main">
            <a:pPr algn="l">
              <a:buNone/>
              <a:defRPr sz="1875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875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Стадия: программный прототип с YOLO11n; выполнены функциональные проверки на изображениях и видео. Промышленные испытания запланированы.</a:t>
            </a:r>
          </a:p>
        </p:txBody>
      </p:sp>
      <p:pic>
        <p:nvPicPr>
          <p:cNvPr id="18" name="Рисунок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7edbc4696e47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99733" y="6126450"/>
            <a:ext cx="2138400" cy="190851"/>
          </a:xfrm>
          <a:prstGeom xmlns:a="http://schemas.openxmlformats.org/drawingml/2006/main" prst="rect">
            <a:avLst/>
          </a:prstGeom>
        </p:spPr>
      </p:pic>
      <p:graphicFrame>
        <p:nvGraphicFramePr>
          <p:cNvPr id="19" name=""/>
          <p:cNvGraphicFramePr/>
          <p:nvPr/>
        </p:nvGraphicFramePr>
        <p:xfrm>
          <a:off xmlns:a="http://schemas.openxmlformats.org/drawingml/2006/main" x="952500" y="3524250"/>
          <a:ext xmlns:a="http://schemas.openxmlformats.org/drawingml/2006/main" cx="10382250" cy="1809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429500"/>
                <a:gridCol w="2952750"/>
              </a:tblGrid>
              <a:tr h="4524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Расчётные показатели на 3 года</a:t>
                      </a:r>
                    </a:p>
                  </a:txBody>
                  <a:tcPr marL="91440" marR="91440" marT="45720" marB="45720">
                    <a:solidFill>
                      <a:srgbClr val="5A89C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Значение</a:t>
                      </a:r>
                    </a:p>
                  </a:txBody>
                  <a:tcPr marL="91440" marR="91440" marT="45720" marB="45720">
                    <a:solidFill>
                      <a:srgbClr val="5A89C5"/>
                    </a:solidFill>
                  </a:tcPr>
                </a:tc>
              </a:tr>
              <a:tr h="4524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Первоначальные затраты / финансирование с учётом дефицита</a:t>
                      </a:r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1,50 / 1,71 млн руб.</a:t>
                      </a:r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</a:tr>
              <a:tr h="4524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Окупаемость / дисконтированная окупаемость</a:t>
                      </a:r>
                    </a:p>
                  </a:txBody>
                  <a:tcPr marL="91440" marR="91440" marT="45720" marB="45720">
                    <a:solidFill>
                      <a:srgbClr val="F1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2,40 / 2,79 года</a:t>
                      </a:r>
                    </a:p>
                  </a:txBody>
                  <a:tcPr marL="91440" marR="91440" marT="45720" marB="45720">
                    <a:solidFill>
                      <a:srgbClr val="F1F5FA"/>
                    </a:solidFill>
                  </a:tcPr>
                </a:tc>
              </a:tr>
              <a:tr h="45243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NPV при ставке 20% / IRR</a:t>
                      </a:r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0,32 млн руб. / 28,1%</a:t>
                      </a:r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</a:tr>
            </a:tbl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6F65A6-6259-4F5C-8269-E6DAAB1C7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292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350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Показатели основаны на прогнозе продаж. Допущения и анализ чувствительности: слайды 6, 10, 11.</a:t>
            </a:r>
          </a:p>
        </p:txBody>
      </p:sp>
    </p:spTree>
    <p:extLst>
      <p:ext uri="{BB962C8B-B14F-4D97-AF65-F5344CB8AC3E}">
        <p14:creationId xmlns:p14="http://schemas.microsoft.com/office/powerpoint/2010/main" val="74246297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42A29AC-2223-DF3C-59EC-8C50C5C1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14832"/>
            <a:ext cx="12192000" cy="64333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dk1">
              <a:shade val="50000"/>
            </a:schemeClr>
          </a:lnRef>
          <a:fillRef xmlns:a="http://schemas.openxmlformats.org/drawingml/2006/main" idx="1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4F6C920-528D-C634-4883-20025889D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11567"/>
            <a:ext cx="12192000" cy="702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5C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A887055-60BA-276D-57AE-08D0A46CB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039" y="5573733"/>
            <a:ext cx="640080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chemeClr val="bg1"/>
                </a:solidFill>
                <a:latin typeface="PF Centro Sans Pro"/>
                <a:ea typeface="PF Centro Sans Pro"/>
                <a:cs typeface="PF Centro Sans Pro"/>
              </a:rPr>
              <a:t>Проблема/ анализ ситуации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39E70AE-F006-2992-3B39-3688D60B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210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Задача: выявление устойчивых нарушений правил охраны труда и передача событий ответственному специалисту.</a:t>
            </a:r>
          </a:p>
        </p:txBody>
      </p:sp>
      <p:pic>
        <p:nvPicPr>
          <p:cNvPr id="18" name="Рисунок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3ecaccab6541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99733" y="6319490"/>
            <a:ext cx="2138400" cy="190851"/>
          </a:xfrm>
          <a:prstGeom xmlns:a="http://schemas.openxmlformats.org/drawingml/2006/main" prst="rect">
            <a:avLst/>
          </a:prstGeom>
        </p:spPr>
      </p:pic>
      <p:graphicFrame>
        <p:nvGraphicFramePr>
          <p:cNvPr id="19" name=""/>
          <p:cNvGraphicFramePr/>
          <p:nvPr/>
        </p:nvGraphicFramePr>
        <p:xfrm>
          <a:off xmlns:a="http://schemas.openxmlformats.org/drawingml/2006/main" x="762000" y="1524000"/>
          <a:ext xmlns:a="http://schemas.openxmlformats.org/drawingml/2006/main" cx="106680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3429000"/>
                <a:gridCol w="3905250"/>
              </a:tblGrid>
              <a:tr h="5429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Метод контроля</a:t>
                      </a:r>
                    </a:p>
                  </a:txBody>
                  <a:tcPr marL="91440" marR="91440" marT="45720" marB="45720">
                    <a:solidFill>
                      <a:srgbClr val="5A89C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Преимущество</a:t>
                      </a:r>
                    </a:p>
                  </a:txBody>
                  <a:tcPr marL="91440" marR="91440" marT="45720" marB="45720">
                    <a:solidFill>
                      <a:srgbClr val="5A89C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Ограничение</a:t>
                      </a:r>
                    </a:p>
                  </a:txBody>
                  <a:tcPr marL="91440" marR="91440" marT="45720" marB="45720">
                    <a:solidFill>
                      <a:srgbClr val="5A89C5"/>
                    </a:solidFill>
                  </a:tcPr>
                </a:tc>
              </a:tr>
              <a:tr h="5429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Обходы и ручной просмотр</a:t>
                      </a:r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Экспертная оценка контекста</a:t>
                      </a:r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Ограниченный охват наблюдения</a:t>
                      </a:r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</a:tr>
              <a:tr h="5429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Архив видеонаблюдения</a:t>
                      </a:r>
                    </a:p>
                  </a:txBody>
                  <a:tcPr marL="91440" marR="91440" marT="45720" marB="45720">
                    <a:solidFill>
                      <a:srgbClr val="F1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Документирование событий</a:t>
                      </a:r>
                    </a:p>
                  </a:txBody>
                  <a:tcPr marL="91440" marR="91440" marT="45720" marB="45720">
                    <a:solidFill>
                      <a:srgbClr val="F1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Ручной поиск значимых эпизодов</a:t>
                      </a:r>
                    </a:p>
                  </a:txBody>
                  <a:tcPr marL="91440" marR="91440" marT="45720" marB="45720">
                    <a:solidFill>
                      <a:srgbClr val="F1F5FA"/>
                    </a:solidFill>
                  </a:tcPr>
                </a:tc>
              </a:tr>
              <a:tr h="5429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Носимые датчики</a:t>
                      </a:r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Контроль вне поля зрения камер</a:t>
                      </a:r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Выдача и обслуживание устройств</a:t>
                      </a:r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</a:tr>
              <a:tr h="54292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Видеоаналитика</a:t>
                      </a:r>
                    </a:p>
                  </a:txBody>
                  <a:tcPr marL="91440" marR="91440" marT="45720" marB="45720">
                    <a:solidFill>
                      <a:srgbClr val="F1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Автоматическое выделение событий</a:t>
                      </a:r>
                    </a:p>
                  </a:txBody>
                  <a:tcPr marL="91440" marR="91440" marT="45720" marB="45720">
                    <a:solidFill>
                      <a:srgbClr val="F1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Зависимость от условий съёмки и моделей</a:t>
                      </a:r>
                    </a:p>
                  </a:txBody>
                  <a:tcPr marL="91440" marR="91440" marT="45720" marB="45720"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60C601-A144-4CF2-8364-A430FB9BD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24375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725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Ожидаемый эффект: сокращение трудозатрат на поиск и анализ видеоэпизодов.</a:t>
            </a:r>
          </a:p>
          <a:p xmlns:a="http://schemas.openxmlformats.org/drawingml/2006/main">
            <a:pPr algn="l">
              <a:defRPr sz="1725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725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Экономический эффект и влияние на безопасность подлежат оценке при апробации.</a:t>
            </a:r>
          </a:p>
        </p:txBody>
      </p:sp>
    </p:spTree>
    <p:extLst>
      <p:ext uri="{BB962C8B-B14F-4D97-AF65-F5344CB8AC3E}">
        <p14:creationId xmlns:p14="http://schemas.microsoft.com/office/powerpoint/2010/main" val="260235072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7895A4B-9C46-D7C4-7A98-AEA2547B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60191"/>
            <a:ext cx="12192000" cy="29797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dk1">
              <a:shade val="50000"/>
            </a:schemeClr>
          </a:lnRef>
          <a:fillRef xmlns:a="http://schemas.openxmlformats.org/drawingml/2006/main" idx="1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9360E6A-200F-F7A6-E15D-E60FECDF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77649"/>
            <a:ext cx="12192000" cy="87245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9AE0A3B-4F15-63BF-2A9D-039F4DFC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486" y="5917412"/>
            <a:ext cx="640080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chemeClr val="bg1"/>
                </a:solidFill>
                <a:latin typeface="PF Centro Sans Pro"/>
                <a:ea typeface="PF Centro Sans Pro"/>
                <a:cs typeface="PF Centro Sans Pro"/>
              </a:rPr>
              <a:t>Решение/описание продукта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E0BAC9F-1DCC-7723-0EFA-65104799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4429125" cy="3429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80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Контроль зон и регистрация инцидентов</a:t>
            </a:r>
            <a:endParaRPr sz="1200">
              <a:latin typeface="Aptos"/>
              <a:ea typeface="Aptos"/>
              <a:cs typeface="Aptos"/>
            </a:endParaRPr>
          </a:p>
          <a:p xmlns:a="http://schemas.openxmlformats.org/drawingml/2006/main">
            <a:pPr algn="just">
              <a:buNone/>
            </a:pPr>
            <a:r>
              <a:rPr sz="1400">
                <a:latin typeface="Times New Roman"/>
                <a:ea typeface="Times New Roman"/>
                <a:cs typeface="Times New Roman"/>
              </a:rPr>
              <a:t/>
            </a:r>
          </a:p>
          <a:p xmlns:a="http://schemas.openxmlformats.org/drawingml/2006/main">
            <a:pPr algn="l">
              <a:buNone/>
              <a:defRPr sz="180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80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Полигональное геозонирование, сопровождение объектов, временная фильтрация событий, обработка инцидентов и экспорт отчётов.</a:t>
            </a:r>
            <a:endParaRPr sz="1600">
              <a:latin typeface="PF Centro Sans Pro"/>
              <a:ea typeface="PF Centro Sans Pro"/>
              <a:cs typeface="PF Centro Sans Pro"/>
            </a:endParaRPr>
          </a:p>
          <a:p xmlns:a="http://schemas.openxmlformats.org/drawingml/2006/main">
            <a:pPr algn="just">
              <a:buNone/>
            </a:pPr>
            <a:r>
              <a:rPr sz="1600">
                <a:latin typeface="PF Centro Sans Pro"/>
                <a:ea typeface="PF Centro Sans Pro"/>
                <a:cs typeface="PF Centro Sans Pro"/>
              </a:rPr>
              <a:t/>
            </a:r>
          </a:p>
          <a:p xmlns:a="http://schemas.openxmlformats.org/drawingml/2006/main">
            <a:pPr algn="l">
              <a:buNone/>
              <a:defRPr sz="180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80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Предусмотрено расширение: анализ СИЗ в области объекта, оценка позы и временная классификация поведения.</a:t>
            </a:r>
          </a:p>
        </p:txBody>
      </p:sp>
      <p:pic>
        <p:nvPicPr>
          <p:cNvPr id="19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c42037468b4f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99733" y="6654770"/>
            <a:ext cx="2138400" cy="190851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b4047f6d864132"/>
          <a:stretch xmlns:a="http://schemas.openxmlformats.org/drawingml/2006/main"/>
        </p:blipFill>
        <p:spPr>
          <a:xfrm xmlns:a="http://schemas.openxmlformats.org/drawingml/2006/main">
            <a:off x="5779107" y="476250"/>
            <a:ext cx="5443911" cy="39052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A0D504-EB23-4401-89AC-C4509288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29125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350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Экран настройки зон. Синтетическая сцена.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68622C-D78B-4FC1-B67A-9E16045E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1081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575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Интегрирован детектор людей YOLO11n. Модели СИЗ и поведения не установлены.</a:t>
            </a:r>
          </a:p>
          <a:p xmlns:a="http://schemas.openxmlformats.org/drawingml/2006/main">
            <a:pPr algn="l">
              <a:defRPr sz="1575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575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Проверяемая гипотеза: снижение числа повторных тревог и времени обработки инцидента.</a:t>
            </a:r>
          </a:p>
        </p:txBody>
      </p:sp>
    </p:spTree>
    <p:extLst>
      <p:ext uri="{BB962C8B-B14F-4D97-AF65-F5344CB8AC3E}">
        <p14:creationId xmlns:p14="http://schemas.microsoft.com/office/powerpoint/2010/main" val="9013161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72B058E-1AD6-0FDB-9EB7-4A5AD4B2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78168"/>
            <a:ext cx="12192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dk1">
              <a:shade val="50000"/>
            </a:schemeClr>
          </a:lnRef>
          <a:fillRef xmlns:a="http://schemas.openxmlformats.org/drawingml/2006/main" idx="1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7654881-681A-B4CA-C9D3-F95675206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21998"/>
            <a:ext cx="12192000" cy="578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5C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90E9071-80E3-0DDE-FD1D-E469930A6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961337"/>
            <a:ext cx="640080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chemeClr val="bg1"/>
                </a:solidFill>
                <a:latin typeface="PF Centro Sans Pro"/>
                <a:ea typeface="PF Centro Sans Pro"/>
                <a:cs typeface="PF Centro Sans Pro"/>
              </a:rPr>
              <a:t/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DA7283E-AA61-114E-D351-F75965EB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65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Целевой сегмент: промышленные предприятия с IP-видеонаблюдением. Пользователи: служба охраны труда и диспетчерский персонал. Апробация согласуется с подразделениями ИТ и ИБ.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FB2FC05-A877-C7D7-4DD1-A106B01B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831" y="370334"/>
            <a:ext cx="6094602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rgbClr val="4B5055"/>
                </a:solidFill>
                <a:latin typeface="PF Centro Sans Pro"/>
                <a:ea typeface="PF Centro Sans Pro"/>
                <a:cs typeface="PF Centro Sans Pro"/>
              </a:rPr>
              <a:t>Анализ целевого рынка</a:t>
            </a:r>
          </a:p>
        </p:txBody>
      </p:sp>
      <p:pic>
        <p:nvPicPr>
          <p:cNvPr id="20" name="Рисунок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77912602ab4c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53600" y="6664930"/>
            <a:ext cx="2138400" cy="190851"/>
          </a:xfrm>
          <a:prstGeom xmlns:a="http://schemas.openxmlformats.org/drawingml/2006/main" prst="rect">
            <a:avLst/>
          </a:prstGeom>
        </p:spPr>
      </p:pic>
      <p:graphicFrame>
        <p:nvGraphicFramePr>
          <p:cNvPr id="21" name=""/>
          <p:cNvGraphicFramePr/>
          <p:nvPr/>
        </p:nvGraphicFramePr>
        <p:xfrm>
          <a:off xmlns:a="http://schemas.openxmlformats.org/drawingml/2006/main" x="762000" y="2286000"/>
          <a:ext xmlns:a="http://schemas.openxmlformats.org/drawingml/2006/main" cx="1066800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4000500"/>
                <a:gridCol w="3619500"/>
              </a:tblGrid>
              <a:tr h="5476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Решение</a:t>
                      </a:r>
                    </a:p>
                  </a:txBody>
                  <a:tcPr marL="91440" marR="91440" marT="45720" marB="45720">
                    <a:solidFill>
                      <a:srgbClr val="5A89C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Заявленные возможности</a:t>
                      </a:r>
                    </a:p>
                  </a:txBody>
                  <a:tcPr marL="91440" marR="91440" marT="45720" marB="45720">
                    <a:solidFill>
                      <a:srgbClr val="5A89C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Параметры сопоставления</a:t>
                      </a:r>
                    </a:p>
                  </a:txBody>
                  <a:tcPr marL="91440" marR="91440" marT="45720" marB="45720">
                    <a:solidFill>
                      <a:srgbClr val="5A89C5"/>
                    </a:solidFill>
                  </a:tcPr>
                </a:tc>
              </a:tr>
              <a:tr h="5476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TRASSIR Hardhat Detector</a:t>
                      </a:r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Специализированный детектор касок</a:t>
                      </a:r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Совместимость, сервер и цена каналов</a:t>
                      </a:r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</a:tr>
              <a:tr h="5476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Малленом EYECONT</a:t>
                      </a:r>
                    </a:p>
                  </a:txBody>
                  <a:tcPr marL="91440" marR="91440" marT="45720" marB="45720">
                    <a:solidFill>
                      <a:srgbClr val="F1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Контроль СИЗ, журнал тревог, оповещения</a:t>
                      </a:r>
                    </a:p>
                  </a:txBody>
                  <a:tcPr marL="91440" marR="91440" marT="45720" marB="45720">
                    <a:solidFill>
                      <a:srgbClr val="F1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Смета и настройка на конкретном участке</a:t>
                      </a:r>
                    </a:p>
                  </a:txBody>
                  <a:tcPr marL="91440" marR="91440" marT="45720" marB="45720">
                    <a:solidFill>
                      <a:srgbClr val="F1F5FA"/>
                    </a:solidFill>
                  </a:tcPr>
                </a:tc>
              </a:tr>
              <a:tr h="547688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NtechLab FindFace Multi</a:t>
                      </a:r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Распознавание силуэтов и действий</a:t>
                      </a:r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Состав HSE-модулей и условия интеграции</a:t>
                      </a:r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</a:tr>
            </a:tbl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5C8838-362F-42D5-935B-E526F356D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962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650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Сопоставимые коммерческие предложения не получены.</a:t>
            </a:r>
          </a:p>
          <a:p xmlns:a="http://schemas.openxmlformats.org/drawingml/2006/main">
            <a:pPr algn="l">
              <a:defRPr sz="1650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650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Преимущества по стоимости и качеству распознавания требуют сравнительных испытаний.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41FE38-77D0-467B-9765-FE82A176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275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Источники: trassir.ru, mallenom.ru, ntechlab.ru. Полные ссылки в пояснениях.</a:t>
            </a:r>
          </a:p>
          <a:p xmlns:a="http://schemas.openxmlformats.org/drawingml/2006/main">
            <a:pPr algn="l">
              <a:defRPr sz="1275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275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Объём рынка не оценён. План исследования: интервью заказчиков и анализ коммерческих предложений.</a:t>
            </a:r>
          </a:p>
        </p:txBody>
      </p:sp>
    </p:spTree>
    <p:extLst>
      <p:ext uri="{BB962C8B-B14F-4D97-AF65-F5344CB8AC3E}">
        <p14:creationId xmlns:p14="http://schemas.microsoft.com/office/powerpoint/2010/main" val="71077428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4C69C50-FF36-5DA5-1AE5-C0B7884C3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78168"/>
            <a:ext cx="12192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dk1">
              <a:shade val="50000"/>
            </a:schemeClr>
          </a:lnRef>
          <a:fillRef xmlns:a="http://schemas.openxmlformats.org/drawingml/2006/main" idx="1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E30865E-53CE-BE75-AE52-4F9E6405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31524"/>
            <a:ext cx="12192000" cy="81857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DDDDE5F-43E9-6B5F-209C-B6F74239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165" y="6056558"/>
            <a:ext cx="863873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chemeClr val="bg1"/>
                </a:solidFill>
                <a:latin typeface="PF Centro Sans Pro"/>
                <a:ea typeface="PF Centro Sans Pro"/>
                <a:cs typeface="PF Centro Sans Pro"/>
              </a:rPr>
              <a:t>Оценка спроса и планируемая доля рынка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57C1CD6-09E6-37AA-4234-B18FEAD2E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875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Модель коммерциализации: локальная лицензия, внедрение и ежегодная поддержка.</a:t>
            </a:r>
          </a:p>
          <a:p xmlns:a="http://schemas.openxmlformats.org/drawingml/2006/main">
            <a:pPr algn="l">
              <a:buNone/>
              <a:defRPr sz="1875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875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Предварительная цена пакета до 8 камер: 480 тыс. руб. Поддержка со второго года: 96 тыс. руб./год.</a:t>
            </a:r>
            <a:endParaRPr sz="1600">
              <a:latin typeface="PF Centro Sans Pro"/>
              <a:ea typeface="PF Centro Sans Pro"/>
              <a:cs typeface="PF Centro Sans Pro"/>
            </a:endParaRPr>
          </a:p>
        </p:txBody>
      </p:sp>
      <p:pic>
        <p:nvPicPr>
          <p:cNvPr id="19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f9c68bfb2840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1973" y="6655604"/>
            <a:ext cx="2138400" cy="190851"/>
          </a:xfrm>
          <a:prstGeom xmlns:a="http://schemas.openxmlformats.org/drawingml/2006/main" prst="rect">
            <a:avLst/>
          </a:prstGeom>
        </p:spPr>
      </p:pic>
      <p:graphicFrame>
        <p:nvGraphicFramePr>
          <p:cNvPr id="20" name=""/>
          <p:cNvGraphicFramePr/>
          <p:nvPr/>
        </p:nvGraphicFramePr>
        <p:xfrm>
          <a:off xmlns:a="http://schemas.openxmlformats.org/drawingml/2006/main" x="762000" y="1857375"/>
          <a:ext xmlns:a="http://schemas.openxmlformats.org/drawingml/2006/main" cx="10668000" cy="2000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096000"/>
                <a:gridCol w="1524000"/>
                <a:gridCol w="1524000"/>
                <a:gridCol w="1524000"/>
              </a:tblGrid>
              <a:tr h="500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Новые площадки за год</a:t>
                      </a:r>
                    </a:p>
                  </a:txBody>
                  <a:tcPr marL="91440" marR="91440" marT="45720" marB="45720">
                    <a:solidFill>
                      <a:srgbClr val="5A89C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Год 1</a:t>
                      </a:r>
                    </a:p>
                  </a:txBody>
                  <a:tcPr marL="91440" marR="91440" marT="45720" marB="45720">
                    <a:solidFill>
                      <a:srgbClr val="5A89C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Год 2</a:t>
                      </a:r>
                    </a:p>
                  </a:txBody>
                  <a:tcPr marL="91440" marR="91440" marT="45720" marB="45720">
                    <a:solidFill>
                      <a:srgbClr val="5A89C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Год 3</a:t>
                      </a:r>
                    </a:p>
                  </a:txBody>
                  <a:tcPr marL="91440" marR="91440" marT="45720" marB="45720">
                    <a:solidFill>
                      <a:srgbClr val="5A89C5"/>
                    </a:solidFill>
                  </a:tcPr>
                </a:tc>
              </a:tr>
              <a:tr h="500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Консервативный сценарий</a:t>
                      </a:r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</a:tr>
              <a:tr h="500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Базовый сценарий</a:t>
                      </a:r>
                    </a:p>
                  </a:txBody>
                  <a:tcPr marL="91440" marR="91440" marT="45720" marB="45720">
                    <a:solidFill>
                      <a:srgbClr val="F1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1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1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1F5FA"/>
                    </a:solidFill>
                  </a:tcPr>
                </a:tc>
              </a:tr>
              <a:tr h="50006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Ускоренный сценарий</a:t>
                      </a:r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</a:tr>
            </a:tbl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61759B-91E5-4247-9E4C-6525CEC9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725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Прогноз основан на плановой загрузке команды. Предзаказы отсутствуют. Для верификации спроса предусмотрены интервью заказчиков и сбор писем о заинтересованности.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3887E1-806A-441C-92A2-1541C730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0537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575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При расширении до 200 площадок и цене 480 тыс. руб. расчётный объём разовых продаж составит 96 млн руб. Показатель характеризует сценарий масштабирования, а не ёмкость рынка.</a:t>
            </a:r>
          </a:p>
        </p:txBody>
      </p:sp>
    </p:spTree>
    <p:extLst>
      <p:ext uri="{BB962C8B-B14F-4D97-AF65-F5344CB8AC3E}">
        <p14:creationId xmlns:p14="http://schemas.microsoft.com/office/powerpoint/2010/main" val="207574458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2CBC678-5F12-25E5-786F-AFC8A55C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78168"/>
            <a:ext cx="12192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dk1">
              <a:shade val="50000"/>
            </a:schemeClr>
          </a:lnRef>
          <a:fillRef xmlns:a="http://schemas.openxmlformats.org/drawingml/2006/main" idx="1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1E8DC14-7404-C80D-CFB7-704968C53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48371"/>
            <a:ext cx="12192000" cy="6989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5C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4DADEF5-CEE1-524E-25CD-03DC33E3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1" y="6056558"/>
            <a:ext cx="9091744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chemeClr val="bg1"/>
                </a:solidFill>
                <a:latin typeface="PF Centro Sans Pro"/>
                <a:ea typeface="PF Centro Sans Pro"/>
                <a:cs typeface="PF Centro Sans Pro"/>
              </a:rPr>
              <a:t>Техническое и технологическое обоснование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9FD1899-68B6-ED1E-8FCD-6BA767FED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2025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Архитектура программного прототипа</a:t>
            </a:r>
            <a:endParaRPr sz="1200">
              <a:latin typeface="Aptos"/>
              <a:ea typeface="Aptos"/>
              <a:cs typeface="Aptos"/>
            </a:endParaRPr>
          </a:p>
        </p:txBody>
      </p:sp>
      <p:pic>
        <p:nvPicPr>
          <p:cNvPr id="28" name="Рисунок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e17d4c60334a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3440" y="10160"/>
            <a:ext cx="2138400" cy="190851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E9D636-63C5-4946-A96F-A879BBC2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33500"/>
            <a:ext cx="20478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7"/>
          </a:solidFill>
          <a:ln xmlns:a="http://schemas.openxmlformats.org/drawingml/2006/main" w="9525">
            <a:solidFill>
              <a:srgbClr val="5A89C5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65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IP-камеры</a:t>
            </a:r>
          </a:p>
          <a:p xmlns:a="http://schemas.openxmlformats.org/drawingml/2006/main">
            <a:pPr>
              <a:defRPr sz="165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65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RTSP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3F5DAF-031A-46DA-A9E3-64D4F044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1743075"/>
            <a:ext cx="19050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A89C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95A28C-45FA-4885-9C72-C578975DF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333500"/>
            <a:ext cx="20478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7"/>
          </a:solidFill>
          <a:ln xmlns:a="http://schemas.openxmlformats.org/drawingml/2006/main" w="9525">
            <a:solidFill>
              <a:srgbClr val="5A89C5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65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Приём видео</a:t>
            </a:r>
          </a:p>
          <a:p xmlns:a="http://schemas.openxmlformats.org/drawingml/2006/main">
            <a:pPr>
              <a:defRPr sz="165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65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PyAV, буфер кадров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E04B76-0158-411B-AB01-B91A72EE5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743075"/>
            <a:ext cx="19050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A89C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FE14AB-E54A-4C43-B404-48EFF687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1333500"/>
            <a:ext cx="20478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7"/>
          </a:solidFill>
          <a:ln xmlns:a="http://schemas.openxmlformats.org/drawingml/2006/main" w="9525">
            <a:solidFill>
              <a:srgbClr val="5A89C5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65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Инференс</a:t>
            </a:r>
          </a:p>
          <a:p xmlns:a="http://schemas.openxmlformats.org/drawingml/2006/main">
            <a:pPr>
              <a:defRPr sz="165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65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ONNX, ByteTrack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E391D1-82D8-48E0-9411-34A04A40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743075"/>
            <a:ext cx="19050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A89C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4DE1C1-5112-4479-8F12-FB35ED34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333500"/>
            <a:ext cx="20478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7"/>
          </a:solidFill>
          <a:ln xmlns:a="http://schemas.openxmlformats.org/drawingml/2006/main" w="9525">
            <a:solidFill>
              <a:srgbClr val="5A89C5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65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События</a:t>
            </a:r>
          </a:p>
          <a:p xmlns:a="http://schemas.openxmlformats.org/drawingml/2006/main">
            <a:pPr>
              <a:defRPr sz="165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65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FastAPI, SQL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7B0ECF-2DBE-4B51-B093-2CAD6776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743075"/>
            <a:ext cx="190500" cy="1619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A89C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ECC99F-01B6-4135-B46A-8185AD21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1333500"/>
            <a:ext cx="20478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7"/>
          </a:solidFill>
          <a:ln xmlns:a="http://schemas.openxmlformats.org/drawingml/2006/main" w="9525">
            <a:solidFill>
              <a:srgbClr val="5A89C5"/>
            </a:solidFill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65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Оператор</a:t>
            </a:r>
          </a:p>
          <a:p xmlns:a="http://schemas.openxmlformats.org/drawingml/2006/main">
            <a:pPr>
              <a:defRPr sz="165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65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React, Canvas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6B7BE3-0902-4667-86C3-89752F6C8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622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800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Межсервисный обмен: HTTP; передача в браузер: WebSocket. Конфигурация Compose предусматривает PostgreSQL, Redis и S3. В локальном режиме используется SQLite.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69309B-A26C-490F-8ADC-8E2CD15B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67125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725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Инфраструктура апробации: существующие камеры и локальная сеть. Сервер выбирается по результатам нагрузочных испытаний. Предварительный бюджет: 300 тыс. руб.; конфигурация не определена.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B4EA15-10C5-4353-A7B6-AD494212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4345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575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Triton, OpenVINO и gRPC рассматриваются для последующего развития.</a:t>
            </a:r>
          </a:p>
          <a:p xmlns:a="http://schemas.openxmlformats.org/drawingml/2006/main">
            <a:pPr algn="l">
              <a:defRPr sz="1575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575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Развёртывание в закрытом контуре требует переноса образов и проверки лицензий моделей.</a:t>
            </a:r>
          </a:p>
        </p:txBody>
      </p:sp>
    </p:spTree>
    <p:extLst>
      <p:ext uri="{BB962C8B-B14F-4D97-AF65-F5344CB8AC3E}">
        <p14:creationId xmlns:p14="http://schemas.microsoft.com/office/powerpoint/2010/main" val="342452271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714A476-7B83-7E5D-D95B-DD7D85A7D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78168"/>
            <a:ext cx="12192000" cy="1080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dk1">
              <a:shade val="50000"/>
            </a:schemeClr>
          </a:lnRef>
          <a:fillRef xmlns:a="http://schemas.openxmlformats.org/drawingml/2006/main" idx="1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4DFE51C-3AA5-C656-C211-C5F2CACD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78167"/>
            <a:ext cx="12192000" cy="87193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5F15923-0957-EF27-86C3-F114CD8A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928" y="5969306"/>
            <a:ext cx="640080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chemeClr val="bg1"/>
                </a:solidFill>
                <a:latin typeface="PF Centro Sans Pro"/>
                <a:ea typeface="PF Centro Sans Pro"/>
                <a:cs typeface="PF Centro Sans Pro"/>
              </a:rPr>
              <a:t>Трудовые ресурсы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47E40F0-2B56-4C02-CB4E-FBC2A06DD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"/>
            <a:ext cx="10668000" cy="9829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95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Команда: Павлов Иван Владимирович — инициатор; Фролов Денис — разработчик программной платформы.</a:t>
            </a:r>
          </a:p>
          <a:p xmlns:a="http://schemas.openxmlformats.org/drawingml/2006/main">
            <a:pPr algn="l">
              <a:buNone/>
              <a:defRPr sz="195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95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Ресурсный план подготовки к апробации рассчитан на 3 месяца.</a:t>
            </a:r>
          </a:p>
        </p:txBody>
      </p:sp>
      <p:pic>
        <p:nvPicPr>
          <p:cNvPr id="18" name="Рисунок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be61280d1c49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53600" y="6650102"/>
            <a:ext cx="2138400" cy="190851"/>
          </a:xfrm>
          <a:prstGeom xmlns:a="http://schemas.openxmlformats.org/drawingml/2006/main" prst="rect">
            <a:avLst/>
          </a:prstGeom>
        </p:spPr>
      </p:pic>
      <p:graphicFrame>
        <p:nvGraphicFramePr>
          <p:cNvPr id="19" name=""/>
          <p:cNvGraphicFramePr/>
          <p:nvPr/>
        </p:nvGraphicFramePr>
        <p:xfrm>
          <a:off xmlns:a="http://schemas.openxmlformats.org/drawingml/2006/main" x="762000" y="1809750"/>
          <a:ext xmlns:a="http://schemas.openxmlformats.org/drawingml/2006/main" cx="106680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4095750"/>
                <a:gridCol w="2952750"/>
              </a:tblGrid>
              <a:tr h="533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Направление работ</a:t>
                      </a:r>
                    </a:p>
                  </a:txBody>
                  <a:tcPr marL="91440" marR="91440" marT="45720" marB="45720">
                    <a:solidFill>
                      <a:srgbClr val="5A89C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Нагрузка</a:t>
                      </a:r>
                    </a:p>
                  </a:txBody>
                  <a:tcPr marL="91440" marR="91440" marT="45720" marB="45720">
                    <a:solidFill>
                      <a:srgbClr val="5A89C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Бюджет за 3 месяца</a:t>
                      </a:r>
                    </a:p>
                  </a:txBody>
                  <a:tcPr marL="91440" marR="91440" marT="45720" marB="45720">
                    <a:solidFill>
                      <a:srgbClr val="5A89C5"/>
                    </a:solidFill>
                  </a:tcPr>
                </a:tc>
              </a:tr>
              <a:tr h="533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ML-инженер</a:t>
                      </a:r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Модели, данные, оценка качества</a:t>
                      </a:r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360 тыс. руб.</a:t>
                      </a:r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</a:tr>
              <a:tr h="533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Разработчик платформы</a:t>
                      </a:r>
                    </a:p>
                  </a:txBody>
                  <a:tcPr marL="91440" marR="91440" marT="45720" marB="45720">
                    <a:solidFill>
                      <a:srgbClr val="F1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API, интерфейс, интеграция</a:t>
                      </a:r>
                    </a:p>
                  </a:txBody>
                  <a:tcPr marL="91440" marR="91440" marT="45720" marB="45720">
                    <a:solidFill>
                      <a:srgbClr val="F1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300 тыс. руб.</a:t>
                      </a:r>
                    </a:p>
                  </a:txBody>
                  <a:tcPr marL="91440" marR="91440" marT="45720" marB="45720">
                    <a:solidFill>
                      <a:srgbClr val="F1F5FA"/>
                    </a:solidFill>
                  </a:tcPr>
                </a:tc>
              </a:tr>
              <a:tr h="533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QA и эксперт охраны труда</a:t>
                      </a:r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Разметка, сценарии, испытания</a:t>
                      </a:r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240 тыс. руб.</a:t>
                      </a:r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</a:tr>
              <a:tr h="5334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Итого стоимость работ</a:t>
                      </a:r>
                    </a:p>
                  </a:txBody>
                  <a:tcPr marL="91440" marR="91440" marT="45720" marB="45720">
                    <a:solidFill>
                      <a:srgbClr val="F1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Загрузка и условия требуют уточнения</a:t>
                      </a:r>
                    </a:p>
                  </a:txBody>
                  <a:tcPr marL="91440" marR="91440" marT="45720" marB="45720">
                    <a:solidFill>
                      <a:srgbClr val="F1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900 тыс. руб.</a:t>
                      </a:r>
                    </a:p>
                  </a:txBody>
                  <a:tcPr marL="91440" marR="91440" marT="45720" marB="45720"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6791E9-8E83-464C-8183-E2C2AC32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650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Плановая стоимость работ с сопутствующими выплатами; действующий ФОТ не сформирован.</a:t>
            </a:r>
          </a:p>
          <a:p xmlns:a="http://schemas.openxmlformats.org/drawingml/2006/main">
            <a:pPr algn="l">
              <a:defRPr sz="1650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650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Предусмотрено участие эксперта заказчика в согласовании зон и регламентов реагирования.</a:t>
            </a:r>
          </a:p>
        </p:txBody>
      </p:sp>
    </p:spTree>
    <p:extLst>
      <p:ext uri="{BB962C8B-B14F-4D97-AF65-F5344CB8AC3E}">
        <p14:creationId xmlns:p14="http://schemas.microsoft.com/office/powerpoint/2010/main" val="261668659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D26FFB9-1798-4003-BE08-A56C59B0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8000"/>
            <a:ext cx="12192000" cy="1980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dk1">
              <a:shade val="50000"/>
            </a:schemeClr>
          </a:lnRef>
          <a:fillRef xmlns:a="http://schemas.openxmlformats.org/drawingml/2006/main" idx="1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93B6C40-CC4C-4531-8AB8-27158DAE8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31158"/>
            <a:ext cx="12192000" cy="72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28630F9-1D97-4902-800B-090812CBC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59619"/>
            <a:ext cx="6124074" cy="101507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00">
                <a:latin typeface="PF Centro Sans Pro"/>
                <a:ea typeface="PF Centro Sans Pro"/>
                <a:cs typeface="PF Centro Sans Pro"/>
              </a:rPr>
              <a:t>Организационный план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820818D-611D-4785-B9E6-DCAB77A1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43840"/>
            <a:ext cx="6153324" cy="5539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r>
              <a:rPr sz="3000">
                <a:solidFill>
                  <a:schemeClr val="bg1"/>
                </a:solidFill>
                <a:latin typeface="PF Centro Sans Pro"/>
                <a:ea typeface="PF Centro Sans Pro"/>
                <a:cs typeface="PF Centro Sans Pro"/>
              </a:rPr>
              <a:t/>
            </a:r>
            <a:endParaRPr sz="3000"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E078AAC-AF2D-8FA3-0066-D4913E83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150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875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Заявитель: физическое лицо. До коммерциализации требуется определить организационно-правовую форму и условия использования программных компонентов.</a:t>
            </a:r>
            <a:endParaRPr sz="1600">
              <a:latin typeface="PF Centro Sans Pro"/>
              <a:ea typeface="PF Centro Sans Pro"/>
              <a:cs typeface="PF Centro Sans Pro"/>
            </a:endParaRPr>
          </a:p>
        </p:txBody>
      </p:sp>
      <p:pic>
        <p:nvPicPr>
          <p:cNvPr id="20" name="Рисунок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25a71a42f94c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31813" y="6085810"/>
            <a:ext cx="2138400" cy="190851"/>
          </a:xfrm>
          <a:prstGeom xmlns:a="http://schemas.openxmlformats.org/drawingml/2006/main" prst="rect">
            <a:avLst/>
          </a:prstGeom>
        </p:spPr>
      </p:pic>
      <p:graphicFrame>
        <p:nvGraphicFramePr>
          <p:cNvPr id="21" name=""/>
          <p:cNvGraphicFramePr/>
          <p:nvPr/>
        </p:nvGraphicFramePr>
        <p:xfrm>
          <a:off xmlns:a="http://schemas.openxmlformats.org/drawingml/2006/main" x="619125" y="1714500"/>
          <a:ext xmlns:a="http://schemas.openxmlformats.org/drawingml/2006/main" cx="10858500" cy="2619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81375"/>
                <a:gridCol w="4714875"/>
                <a:gridCol w="2762250"/>
              </a:tblGrid>
              <a:tr h="523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Этап от начала пилотного проекта</a:t>
                      </a:r>
                    </a:p>
                  </a:txBody>
                  <a:tcPr marL="91440" marR="91440" marT="45720" marB="45720">
                    <a:solidFill>
                      <a:srgbClr val="5A89C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Результат</a:t>
                      </a:r>
                    </a:p>
                  </a:txBody>
                  <a:tcPr marL="91440" marR="91440" marT="45720" marB="45720">
                    <a:solidFill>
                      <a:srgbClr val="5A89C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Ответственный</a:t>
                      </a:r>
                    </a:p>
                  </a:txBody>
                  <a:tcPr marL="91440" marR="91440" marT="45720" marB="45720">
                    <a:solidFill>
                      <a:srgbClr val="5A89C5"/>
                    </a:solidFill>
                  </a:tcPr>
                </a:tc>
              </a:tr>
              <a:tr h="523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Месяц 1</a:t>
                      </a:r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Партнёр, видеоданные, выборка и критерии приёмки</a:t>
                      </a:r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Инициатор и заказчик</a:t>
                      </a:r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</a:tr>
              <a:tr h="523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Месяцы 2–3</a:t>
                      </a:r>
                    </a:p>
                  </a:txBody>
                  <a:tcPr marL="91440" marR="91440" marT="45720" marB="45720">
                    <a:solidFill>
                      <a:srgbClr val="F1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Интеграция моделей, независимая тестовая выборка</a:t>
                      </a:r>
                    </a:p>
                  </a:txBody>
                  <a:tcPr marL="91440" marR="91440" marT="45720" marB="45720">
                    <a:solidFill>
                      <a:srgbClr val="F1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ML и разработчик</a:t>
                      </a:r>
                    </a:p>
                  </a:txBody>
                  <a:tcPr marL="91440" marR="91440" marT="45720" marB="45720">
                    <a:solidFill>
                      <a:srgbClr val="F1F5FA"/>
                    </a:solidFill>
                  </a:tcPr>
                </a:tc>
              </a:tr>
              <a:tr h="523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Месяцы 4–5</a:t>
                      </a:r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Апробация на 1–2 участках, оценка качества и нагрузки</a:t>
                      </a:r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Команда и служба ОТ</a:t>
                      </a:r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</a:tr>
              <a:tr h="523875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Месяц 6</a:t>
                      </a:r>
                    </a:p>
                  </a:txBody>
                  <a:tcPr marL="91440" marR="91440" marT="45720" marB="45720">
                    <a:solidFill>
                      <a:srgbClr val="F1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Решение о внедрении, договоры и пакет установки</a:t>
                      </a:r>
                    </a:p>
                  </a:txBody>
                  <a:tcPr marL="91440" marR="91440" marT="45720" marB="45720">
                    <a:solidFill>
                      <a:srgbClr val="F1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Инициатор и ИТ заказчика</a:t>
                      </a:r>
                    </a:p>
                  </a:txBody>
                  <a:tcPr marL="91440" marR="91440" marT="45720" marB="45720"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9608E5-637D-4F32-9D14-19E7D59B5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5300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650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Тиражирование предусматривается после достижения критериев приёмки. Сроки определяются доступностью данных, договорными условиями и результатами испытаний.</a:t>
            </a:r>
          </a:p>
        </p:txBody>
      </p:sp>
    </p:spTree>
    <p:extLst>
      <p:ext uri="{BB962C8B-B14F-4D97-AF65-F5344CB8AC3E}">
        <p14:creationId xmlns:p14="http://schemas.microsoft.com/office/powerpoint/2010/main" val="311963321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F71B4D7-761B-41BD-8B35-8D56C3B3C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88820"/>
            <a:ext cx="12192000" cy="106934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dk1">
              <a:shade val="50000"/>
            </a:schemeClr>
          </a:lnRef>
          <a:fillRef xmlns:a="http://schemas.openxmlformats.org/drawingml/2006/main" idx="1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3F352CB-30B2-4C27-BEF0-93FDF768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46399"/>
            <a:ext cx="12192000" cy="848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5C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B6447D1-F0C4-4792-9A80-808001D12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97" y="5968820"/>
            <a:ext cx="10382512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chemeClr val="bg1"/>
                </a:solidFill>
                <a:latin typeface="PF Centro Sans Pro"/>
                <a:ea typeface="PF Centro Sans Pro"/>
                <a:cs typeface="PF Centro Sans Pro"/>
              </a:rPr>
              <a:t>Финансовое обоснование/ экономика проекта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3A61E85-9BBE-54F0-71DD-75E249920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10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2025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Прогноз финансовых показателей, млн руб. (округлённо)</a:t>
            </a:r>
            <a:endParaRPr sz="1400">
              <a:latin typeface="PF Centro Sans Pro"/>
              <a:ea typeface="PF Centro Sans Pro"/>
              <a:cs typeface="PF Centro Sans Pro"/>
            </a:endParaRPr>
          </a:p>
        </p:txBody>
      </p:sp>
      <p:pic>
        <p:nvPicPr>
          <p:cNvPr id="20" name="Рисунок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b9ba872cb94c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31813" y="5852130"/>
            <a:ext cx="2138400" cy="190851"/>
          </a:xfrm>
          <a:prstGeom xmlns:a="http://schemas.openxmlformats.org/drawingml/2006/main" prst="rect">
            <a:avLst/>
          </a:prstGeom>
        </p:spPr>
      </p:pic>
      <p:graphicFrame>
        <p:nvGraphicFramePr>
          <p:cNvPr id="21" name=""/>
          <p:cNvGraphicFramePr/>
          <p:nvPr/>
        </p:nvGraphicFramePr>
        <p:xfrm>
          <a:off xmlns:a="http://schemas.openxmlformats.org/drawingml/2006/main" x="523875" y="1047750"/>
          <a:ext xmlns:a="http://schemas.openxmlformats.org/drawingml/2006/main" cx="11144250" cy="2286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1905000"/>
                <a:gridCol w="1905000"/>
                <a:gridCol w="1905000"/>
              </a:tblGrid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Показатель</a:t>
                      </a:r>
                    </a:p>
                  </a:txBody>
                  <a:tcPr marL="91440" marR="91440" marT="45720" marB="45720">
                    <a:solidFill>
                      <a:srgbClr val="5A89C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Год 1</a:t>
                      </a:r>
                    </a:p>
                  </a:txBody>
                  <a:tcPr marL="91440" marR="91440" marT="45720" marB="45720">
                    <a:solidFill>
                      <a:srgbClr val="5A89C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Год 2</a:t>
                      </a:r>
                    </a:p>
                  </a:txBody>
                  <a:tcPr marL="91440" marR="91440" marT="45720" marB="45720">
                    <a:solidFill>
                      <a:srgbClr val="5A89C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Год 3</a:t>
                      </a:r>
                    </a:p>
                  </a:txBody>
                  <a:tcPr marL="91440" marR="91440" marT="45720" marB="45720">
                    <a:solidFill>
                      <a:srgbClr val="5A89C5"/>
                    </a:solidFill>
                  </a:tcPr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Новые площадки, шт.</a:t>
                      </a:r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Выручка</a:t>
                      </a:r>
                    </a:p>
                  </a:txBody>
                  <a:tcPr marL="91440" marR="91440" marT="45720" marB="45720">
                    <a:solidFill>
                      <a:srgbClr val="F1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1,440</a:t>
                      </a:r>
                    </a:p>
                  </a:txBody>
                  <a:tcPr marL="91440" marR="91440" marT="45720" marB="45720">
                    <a:solidFill>
                      <a:srgbClr val="F1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3,168</a:t>
                      </a:r>
                    </a:p>
                  </a:txBody>
                  <a:tcPr marL="91440" marR="91440" marT="45720" marB="45720">
                    <a:solidFill>
                      <a:srgbClr val="F1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6,624</a:t>
                      </a:r>
                    </a:p>
                  </a:txBody>
                  <a:tcPr marL="91440" marR="91440" marT="45720" marB="45720">
                    <a:solidFill>
                      <a:srgbClr val="F1F5FA"/>
                    </a:solidFill>
                  </a:tcPr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Прямые / постоянные расходы</a:t>
                      </a:r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0,360 / 1,200</a:t>
                      </a:r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0,828 / 1,500</a:t>
                      </a:r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1,764 / 1,800</a:t>
                      </a:r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Условный налоговый резерв 6%</a:t>
                      </a:r>
                    </a:p>
                  </a:txBody>
                  <a:tcPr marL="91440" marR="91440" marT="45720" marB="45720">
                    <a:solidFill>
                      <a:srgbClr val="F1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0,086</a:t>
                      </a:r>
                    </a:p>
                  </a:txBody>
                  <a:tcPr marL="91440" marR="91440" marT="45720" marB="45720">
                    <a:solidFill>
                      <a:srgbClr val="F1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0,190</a:t>
                      </a:r>
                    </a:p>
                  </a:txBody>
                  <a:tcPr marL="91440" marR="91440" marT="45720" marB="45720">
                    <a:solidFill>
                      <a:srgbClr val="F1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0,397</a:t>
                      </a:r>
                    </a:p>
                  </a:txBody>
                  <a:tcPr marL="91440" marR="91440" marT="45720" marB="45720">
                    <a:solidFill>
                      <a:srgbClr val="F1F5FA"/>
                    </a:solidFill>
                  </a:tcPr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Денежный поток</a:t>
                      </a:r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−0,206</a:t>
                      </a:r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0,650</a:t>
                      </a:r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2,663</a:t>
                      </a:r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</a:tr>
            </a:tbl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3CB6B8-6A06-46D0-B3D0-476D6AE4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24250"/>
            <a:ext cx="1114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575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Первоначальные затраты: 1,50 млн руб. (работы 0,90 + сервер 0,30 + данные и испытания 0,30).</a:t>
            </a:r>
          </a:p>
          <a:p xmlns:a="http://schemas.openxmlformats.org/drawingml/2006/main">
            <a:pPr algn="l">
              <a:defRPr sz="1575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575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Финансирование с учётом дефицита первого года: 1,71 млн руб.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9C4D84-86DC-4A1C-ACF2-E5F5EC6E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86250"/>
            <a:ext cx="1114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725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NPV (20%, 3 года): 0,32 млн руб.  IRR: 28,1%.</a:t>
            </a:r>
          </a:p>
          <a:p xmlns:a="http://schemas.openxmlformats.org/drawingml/2006/main">
            <a:pPr algn="l">
              <a:defRPr sz="1725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725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Окупаемость: 2,40 года, дисконтированная: 2,79 года. BEP года 1: 4 внедрения / 1,92 млн руб.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94AD32-A7A2-4AFF-BD86-F71D440E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48250"/>
            <a:ext cx="11144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275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Себестоимость внедрения: 120 тыс. руб. + доля постоянных расходов (400 тыс. руб. в году 1).</a:t>
            </a:r>
          </a:p>
          <a:p xmlns:a="http://schemas.openxmlformats.org/drawingml/2006/main">
            <a:pPr algn="l">
              <a:defRPr sz="1275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275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Налоги и НДС требуют уточнения. Камеры, сервер клиента и дообучение оплачиваются отдельно.</a:t>
            </a:r>
          </a:p>
          <a:p xmlns:a="http://schemas.openxmlformats.org/drawingml/2006/main">
            <a:pPr algn="l">
              <a:defRPr sz="1275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275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Расчётная модель приведена в приложении Excel. Предзаказы и фактическая доходность отсутствуют.</a:t>
            </a:r>
          </a:p>
        </p:txBody>
      </p:sp>
    </p:spTree>
    <p:extLst>
      <p:ext uri="{BB962C8B-B14F-4D97-AF65-F5344CB8AC3E}">
        <p14:creationId xmlns:p14="http://schemas.microsoft.com/office/powerpoint/2010/main" val="297658777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5C5B4E2-A6ED-4A60-ACC5-E7715467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47126"/>
            <a:ext cx="12192000" cy="101087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dk1">
              <a:shade val="50000"/>
            </a:schemeClr>
          </a:lnRef>
          <a:fillRef xmlns:a="http://schemas.openxmlformats.org/drawingml/2006/main" idx="1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BBD1C3C1-AA07-4E51-9D27-BCB21E424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0562"/>
            <a:ext cx="12192000" cy="72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EF8EB95-F79D-47EA-B71F-33C489D8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22628"/>
            <a:ext cx="7659148" cy="7466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latin typeface="PF Centro Sans Pro"/>
              <a:ea typeface="PF Centro Sans Pro"/>
              <a:cs typeface="PF Centro Sans Pro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EACBF7C-1905-4EE1-9096-BA10D30A1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96" y="5996577"/>
            <a:ext cx="7028052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chemeClr val="bg1"/>
                </a:solidFill>
                <a:latin typeface="PF Centro Sans Pro"/>
                <a:ea typeface="PF Centro Sans Pro"/>
                <a:cs typeface="PF Centro Sans Pro"/>
              </a:rPr>
              <a:t>Анализ рисков и чувствительности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EAA56A7-1FD2-07E1-4544-77368B935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1000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2025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Риски апробации и коммерциализации</a:t>
            </a:r>
            <a:endParaRPr sz="1200">
              <a:latin typeface="Aptos"/>
              <a:ea typeface="Aptos"/>
              <a:cs typeface="Aptos"/>
            </a:endParaRPr>
          </a:p>
        </p:txBody>
      </p:sp>
      <p:pic>
        <p:nvPicPr>
          <p:cNvPr id="20" name="Рисунок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7fd701a01443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81013" y="6197570"/>
            <a:ext cx="2138400" cy="190851"/>
          </a:xfrm>
          <a:prstGeom xmlns:a="http://schemas.openxmlformats.org/drawingml/2006/main" prst="rect">
            <a:avLst/>
          </a:prstGeom>
        </p:spPr>
      </p:pic>
      <p:graphicFrame>
        <p:nvGraphicFramePr>
          <p:cNvPr id="21" name=""/>
          <p:cNvGraphicFramePr/>
          <p:nvPr/>
        </p:nvGraphicFramePr>
        <p:xfrm>
          <a:off xmlns:a="http://schemas.openxmlformats.org/drawingml/2006/main" x="523875" y="1066800"/>
          <a:ext xmlns:a="http://schemas.openxmlformats.org/drawingml/2006/main" cx="1114425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2809875"/>
                <a:gridCol w="4333875"/>
              </a:tblGrid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Риск</a:t>
                      </a:r>
                    </a:p>
                  </a:txBody>
                  <a:tcPr marL="91440" marR="91440" marT="45720" marB="45720">
                    <a:solidFill>
                      <a:srgbClr val="5A89C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Вероятность / ущерб*</a:t>
                      </a:r>
                    </a:p>
                  </a:txBody>
                  <a:tcPr marL="91440" marR="91440" marT="45720" marB="45720">
                    <a:solidFill>
                      <a:srgbClr val="5A89C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Мера</a:t>
                      </a:r>
                    </a:p>
                  </a:txBody>
                  <a:tcPr marL="91440" marR="91440" marT="45720" marB="45720">
                    <a:solidFill>
                      <a:srgbClr val="5A89C5"/>
                    </a:solidFill>
                  </a:tcPr>
                </a:tc>
              </a:tr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Ошибки распознавания</a:t>
                      </a:r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Высокая / высокий</a:t>
                      </a:r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Отложенная выборка, настройка камер</a:t>
                      </a:r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</a:tr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Перегрузка и разрывы потока</a:t>
                      </a:r>
                    </a:p>
                  </a:txBody>
                  <a:tcPr marL="91440" marR="91440" marT="45720" marB="45720">
                    <a:solidFill>
                      <a:srgbClr val="F1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Средняя / высокий</a:t>
                      </a:r>
                    </a:p>
                  </a:txBody>
                  <a:tcPr marL="91440" marR="91440" marT="45720" marB="45720">
                    <a:solidFill>
                      <a:srgbClr val="F1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Контроль нагрузки, переподключение</a:t>
                      </a:r>
                    </a:p>
                  </a:txBody>
                  <a:tcPr marL="91440" marR="91440" marT="45720" marB="45720">
                    <a:solidFill>
                      <a:srgbClr val="F1F5FA"/>
                    </a:solidFill>
                  </a:tcPr>
                </a:tc>
              </a:tr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Задержка продаж и доступа к данным</a:t>
                      </a:r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Высокая / высокий</a:t>
                      </a:r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Письмо интереса, ограниченный пилот</a:t>
                      </a:r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</a:tr>
              <a:tr h="4953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Лицензии моделей и требования ИБ</a:t>
                      </a:r>
                    </a:p>
                  </a:txBody>
                  <a:tcPr marL="91440" marR="91440" marT="45720" marB="45720">
                    <a:solidFill>
                      <a:srgbClr val="F1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Средняя / высокий</a:t>
                      </a:r>
                    </a:p>
                  </a:txBody>
                  <a:tcPr marL="91440" marR="91440" marT="45720" marB="45720">
                    <a:solidFill>
                      <a:srgbClr val="F1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6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Проверка условий, согласование с ИБ</a:t>
                      </a:r>
                    </a:p>
                  </a:txBody>
                  <a:tcPr marL="91440" marR="91440" marT="45720" marB="45720"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"/>
          <p:cNvGraphicFramePr/>
          <p:nvPr/>
        </p:nvGraphicFramePr>
        <p:xfrm>
          <a:off xmlns:a="http://schemas.openxmlformats.org/drawingml/2006/main" x="523875" y="3733800"/>
          <a:ext xmlns:a="http://schemas.openxmlformats.org/drawingml/2006/main" cx="11144250" cy="1524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096000"/>
                <a:gridCol w="2524125"/>
                <a:gridCol w="2524125"/>
              </a:tblGrid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Чувствительность, горизонт 3 года</a:t>
                      </a:r>
                    </a:p>
                  </a:txBody>
                  <a:tcPr marL="91440" marR="91440" marT="45720" marB="45720">
                    <a:solidFill>
                      <a:srgbClr val="5A89C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NPV при 20%</a:t>
                      </a:r>
                    </a:p>
                  </a:txBody>
                  <a:tcPr marL="91440" marR="91440" marT="45720" marB="45720">
                    <a:solidFill>
                      <a:srgbClr val="5A89C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Окупаемость</a:t>
                      </a:r>
                    </a:p>
                  </a:txBody>
                  <a:tcPr marL="91440" marR="91440" marT="45720" marB="45720">
                    <a:solidFill>
                      <a:srgbClr val="5A89C5"/>
                    </a:solidFill>
                  </a:tcPr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База</a:t>
                      </a:r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+0,320 млн руб.</a:t>
                      </a:r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2,40 года</a:t>
                      </a:r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Продажи ниже на 20%</a:t>
                      </a:r>
                    </a:p>
                  </a:txBody>
                  <a:tcPr marL="91440" marR="91440" marT="45720" marB="45720">
                    <a:solidFill>
                      <a:srgbClr val="F1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−0,661 млн руб.</a:t>
                      </a:r>
                    </a:p>
                  </a:txBody>
                  <a:tcPr marL="91440" marR="91440" marT="45720" marB="45720">
                    <a:solidFill>
                      <a:srgbClr val="F1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2,95 года</a:t>
                      </a:r>
                    </a:p>
                  </a:txBody>
                  <a:tcPr marL="91440" marR="91440" marT="45720" marB="45720">
                    <a:solidFill>
                      <a:srgbClr val="F1F5FA"/>
                    </a:solidFill>
                  </a:tcPr>
                </a:tc>
              </a:tr>
              <a:tr h="381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Операционные затраты выше на 15%</a:t>
                      </a:r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−0,427 млн руб.</a:t>
                      </a:r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2,77 года</a:t>
                      </a:r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</a:tr>
            </a:tbl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9F9DF2-9FF5-47AF-ADAA-348A38F4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00675"/>
            <a:ext cx="1114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275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* Качественная оценка для планирования. В стресс-сценариях дисконтированной окупаемости за 3 года нет.</a:t>
            </a:r>
          </a:p>
        </p:txBody>
      </p:sp>
    </p:spTree>
    <p:extLst>
      <p:ext uri="{BB962C8B-B14F-4D97-AF65-F5344CB8AC3E}">
        <p14:creationId xmlns:p14="http://schemas.microsoft.com/office/powerpoint/2010/main" val="272463634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33C4A38-D9BD-1C3B-B718-99188E5A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813848"/>
            <a:ext cx="12192000" cy="104415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2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dk1">
              <a:shade val="50000"/>
            </a:schemeClr>
          </a:lnRef>
          <a:fillRef xmlns:a="http://schemas.openxmlformats.org/drawingml/2006/main" idx="1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93AED742-BD53-BBE5-016B-FCA584F9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77239"/>
            <a:ext cx="12192000" cy="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5C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34B6ACE-BC3B-7859-D78C-AB16BE82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373" y="6021577"/>
            <a:ext cx="6793160" cy="55399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000">
                <a:solidFill>
                  <a:schemeClr val="bg1"/>
                </a:solidFill>
                <a:latin typeface="PF Centro Sans Pro"/>
                <a:ea typeface="PF Centro Sans Pro"/>
                <a:cs typeface="PF Centro Sans Pro"/>
              </a:rPr>
              <a:t>Решение работает/доказательства 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612C413-1D93-85B4-44DE-102D54AF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210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Результаты функциональных испытаний</a:t>
            </a:r>
            <a:endParaRPr sz="1400"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9" name="Рисунок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0b8baf9f954b8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81013" y="5841970"/>
            <a:ext cx="2138400" cy="190851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df3a36bb4b411b"/>
          <a:stretch xmlns:a="http://schemas.openxmlformats.org/drawingml/2006/main"/>
        </p:blipFill>
        <p:spPr>
          <a:xfrm xmlns:a="http://schemas.openxmlformats.org/drawingml/2006/main">
            <a:off x="619125" y="1187696"/>
            <a:ext cx="6762750" cy="3434859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BEA58D-8BF1-4B21-A46D-AE1998B9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095375"/>
            <a:ext cx="3857625" cy="3762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725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YOLO11n + ByteTrack</a:t>
            </a:r>
          </a:p>
          <a:p xmlns:a="http://schemas.openxmlformats.org/drawingml/2006/main">
            <a:pPr algn="l">
              <a:defRPr sz="1725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725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Видео: 15,8 с; 127 кадров.</a:t>
            </a:r>
          </a:p>
          <a:p xmlns:a="http://schemas.openxmlformats.org/drawingml/2006/main">
            <a:pPr algn="l">
              <a:defRPr sz="1725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725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Зарегистрированы 2 трека.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725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Функциональная проверка COCO8</a:t>
            </a:r>
          </a:p>
          <a:p xmlns:a="http://schemas.openxmlformats.org/drawingml/2006/main">
            <a:pPr algn="l">
              <a:defRPr sz="1725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725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8 изображений, 10 людей.</a:t>
            </a:r>
          </a:p>
          <a:p xmlns:a="http://schemas.openxmlformats.org/drawingml/2006/main">
            <a:pPr algn="l">
              <a:defRPr sz="1725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725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TP = 4; FP = 0; FN = 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725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Верификация программного кода</a:t>
            </a:r>
          </a:p>
          <a:p xmlns:a="http://schemas.openxmlformats.org/drawingml/2006/main">
            <a:pPr algn="l">
              <a:defRPr sz="1725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725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39 тестов Python и</a:t>
            </a:r>
          </a:p>
          <a:p xmlns:a="http://schemas.openxmlformats.org/drawingml/2006/main">
            <a:pPr algn="l">
              <a:defRPr sz="1725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725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8 браузерных сценариев.</a:t>
            </a:r>
          </a:p>
          <a:p xmlns:a="http://schemas.openxmlformats.org/drawingml/2006/main">
            <a:pPr algn="l">
              <a:defRPr sz="1725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725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Сборка интерфейса выполнена.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F08165-26A2-438F-BE6E-02A456241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24425"/>
            <a:ext cx="10763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500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Видео содержит сохранённые результаты инференса; СИЗ и опасные зоны не оценивались.</a:t>
            </a:r>
          </a:p>
          <a:p xmlns:a="http://schemas.openxmlformats.org/drawingml/2006/main">
            <a:pPr algn="l">
              <a:defRPr sz="1500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500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COCO8 допускает пересечение с обучающей выборкой; независимая оценка качества не проведена.</a:t>
            </a:r>
          </a:p>
          <a:p xmlns:a="http://schemas.openxmlformats.org/drawingml/2006/main">
            <a:pPr algn="l">
              <a:defRPr sz="1500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500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Промышленная апробация и подтверждённые предзаказы отсутствуют.</a:t>
            </a:r>
          </a:p>
        </p:txBody>
      </p:sp>
    </p:spTree>
    <p:extLst>
      <p:ext uri="{BB962C8B-B14F-4D97-AF65-F5344CB8AC3E}">
        <p14:creationId xmlns:p14="http://schemas.microsoft.com/office/powerpoint/2010/main" val="340013644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856441A-BAA8-43A1-B8FE-7799F37D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02921"/>
            <a:ext cx="12192000" cy="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5C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188468E-8C74-4801-8CB1-FE9D537F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10" y="431042"/>
            <a:ext cx="640080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rgbClr val="4B5055"/>
                </a:solidFill>
                <a:latin typeface="PF Centro Sans Pro"/>
                <a:ea typeface="PF Centro Sans Pro"/>
                <a:cs typeface="PF Centro Sans Pro"/>
              </a:rPr>
              <a:t>Команда проекта/ключевые участники  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F07DC13-F846-6834-4DDA-371DD189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266825"/>
            <a:ext cx="10382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80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Команда: Павлов Иван Владимирович и Фролов Денис</a:t>
            </a:r>
            <a:endParaRPr sz="1600">
              <a:solidFill>
                <a:srgbClr val="4B5055"/>
              </a:solidFill>
              <a:latin typeface="PF Centro Sans Pro"/>
              <a:ea typeface="PF Centro Sans Pro"/>
              <a:cs typeface="PF Centro Sans Pro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800" b="0" i="0" u="none" cap="none" spc="0">
                <a:ln>
                  <a:noFill/>
                </a:ln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Контактное лицо: ivanp246459@gmail.com   +7 987 663-19-62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80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Действующие участники и планируемые направления привлечения специалистов</a:t>
            </a:r>
            <a:endParaRPr sz="1400">
              <a:solidFill>
                <a:srgbClr val="4B5055"/>
              </a:solidFill>
              <a:latin typeface="PF Centro Sans Pro"/>
              <a:ea typeface="PF Centro Sans Pro"/>
              <a:cs typeface="PF Centro Sans Pro"/>
            </a:endParaRPr>
          </a:p>
        </p:txBody>
      </p:sp>
      <p:graphicFrame>
        <p:nvGraphicFramePr>
          <p:cNvPr id="16" name="Таблица 4"/>
          <p:cNvGraphicFramePr/>
          <p:nvPr/>
        </p:nvGraphicFramePr>
        <p:xfrm>
          <a:off xmlns:a="http://schemas.openxmlformats.org/drawingml/2006/main" x="889233" y="2575420"/>
          <a:ext xmlns:a="http://schemas.openxmlformats.org/drawingml/2006/main" cx="9957731" cy="3658049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8625"/>
                <a:gridCol w="1762125"/>
                <a:gridCol w="1524000"/>
                <a:gridCol w="1905000"/>
                <a:gridCol w="1143000"/>
                <a:gridCol w="1714500"/>
                <a:gridCol w="1476375"/>
              </a:tblGrid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№</a:t>
                      </a:r>
                    </a:p>
                  </a:txBody>
                  <a:tcPr marL="91440" marR="91440" marT="45720" marB="45720">
                    <a:solidFill>
                      <a:srgbClr val="5A89C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Участник</a:t>
                      </a:r>
                    </a:p>
                  </a:txBody>
                  <a:tcPr marL="91440" marR="91440" marT="45720" marB="45720">
                    <a:solidFill>
                      <a:srgbClr val="5A89C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Статус</a:t>
                      </a:r>
                    </a:p>
                  </a:txBody>
                  <a:tcPr marL="91440" marR="91440" marT="45720" marB="45720">
                    <a:solidFill>
                      <a:srgbClr val="5A89C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Ответственность</a:t>
                      </a:r>
                    </a:p>
                  </a:txBody>
                  <a:tcPr marL="91440" marR="91440" marT="45720" marB="45720">
                    <a:solidFill>
                      <a:srgbClr val="5A89C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Опыт</a:t>
                      </a:r>
                    </a:p>
                  </a:txBody>
                  <a:tcPr marL="91440" marR="91440" marT="45720" marB="45720">
                    <a:solidFill>
                      <a:srgbClr val="5A89C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Результат / вклад</a:t>
                      </a:r>
                    </a:p>
                  </a:txBody>
                  <a:tcPr marL="91440" marR="91440" marT="45720" marB="45720">
                    <a:solidFill>
                      <a:srgbClr val="5A89C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Примечание</a:t>
                      </a:r>
                    </a:p>
                  </a:txBody>
                  <a:tcPr marL="91440" marR="91440" marT="45720" marB="45720">
                    <a:solidFill>
                      <a:srgbClr val="5A89C5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1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Павлов Иван</a:t>
                      </a:r>
                      <a:endParaRPr/>
                    </a:p>
                    <a:p>
                      <a:r>
                        <a:rPr sz="13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Владимирович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Инициатор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Развитие проекта</a:t>
                      </a:r>
                      <a:endParaRPr/>
                    </a:p>
                    <a:p>
                      <a:r>
                        <a:rPr sz="13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и заявка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Не указан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Концепция</a:t>
                      </a:r>
                      <a:endParaRPr/>
                    </a:p>
                    <a:p>
                      <a:r>
                        <a:rPr sz="13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HSE AI-Video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Контактное</a:t>
                      </a:r>
                      <a:endParaRPr/>
                    </a:p>
                    <a:p>
                      <a:r>
                        <a:rPr sz="13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лицо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2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1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Фролов Денис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1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Разработчик</a:t>
                      </a:r>
                      <a:endParaRPr/>
                    </a:p>
                    <a:p>
                      <a:r>
                        <a:rPr sz="13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платформы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1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Разработка</a:t>
                      </a:r>
                      <a:endParaRPr/>
                    </a:p>
                    <a:p>
                      <a:r>
                        <a:rPr sz="13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платформы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1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Не указан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1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Программная</a:t>
                      </a:r>
                      <a:endParaRPr/>
                    </a:p>
                    <a:p>
                      <a:r>
                        <a:rPr sz="13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платформа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1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Участник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1F5FA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3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Планируется</a:t>
                      </a:r>
                      <a:endParaRPr/>
                    </a:p>
                    <a:p>
                      <a:r>
                        <a:rPr sz="13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привлечение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ML-инженер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Модели и</a:t>
                      </a:r>
                      <a:endParaRPr/>
                    </a:p>
                    <a:p>
                      <a:r>
                        <a:rPr sz="13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оценка качества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Подбор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Обучение и</a:t>
                      </a:r>
                      <a:endParaRPr/>
                    </a:p>
                    <a:p>
                      <a:r>
                        <a:rPr sz="13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проверка моделей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План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4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1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Предстоит</a:t>
                      </a:r>
                      <a:endParaRPr/>
                    </a:p>
                    <a:p>
                      <a:r>
                        <a:rPr sz="13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привлечь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1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QA / эксперт ОТ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1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Испытания и</a:t>
                      </a:r>
                      <a:endParaRPr/>
                    </a:p>
                    <a:p>
                      <a:r>
                        <a:rPr sz="13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правила контроля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1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Подбор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1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Протокол</a:t>
                      </a:r>
                      <a:endParaRPr/>
                    </a:p>
                    <a:p>
                      <a:r>
                        <a:rPr sz="13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пилота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1F5F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План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1F5FA"/>
                    </a:solidFill>
                  </a:tcPr>
                </a:tc>
              </a:tr>
              <a:tr h="609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5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Со стороны</a:t>
                      </a:r>
                      <a:endParaRPr/>
                    </a:p>
                    <a:p>
                      <a:r>
                        <a:rPr sz="13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заказчика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ИТ / ИБ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Камеры, сервер</a:t>
                      </a:r>
                      <a:endParaRPr/>
                    </a:p>
                    <a:p>
                      <a:r>
                        <a:rPr sz="13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и доступы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Не определён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Согласование</a:t>
                      </a:r>
                      <a:endParaRPr/>
                    </a:p>
                    <a:p>
                      <a:r>
                        <a:rPr sz="13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развёртывания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3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Партнёр</a:t>
                      </a:r>
                      <a:endParaRPr/>
                    </a:p>
                    <a:p>
                      <a:r>
                        <a:rPr sz="1350" b="0">
                          <a:solidFill>
                            <a:srgbClr val="222C38"/>
                          </a:solidFill>
                          <a:latin typeface="PF Centro Sans Pro"/>
                          <a:ea typeface="PF Centro Sans Pro"/>
                          <a:cs typeface="PF Centro Sans Pro"/>
                        </a:rPr>
                        <a:t>не определён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E4EDF7"/>
                    </a:solidFill>
                  </a:tcPr>
                </a:tc>
              </a:tr>
            </a:tbl>
          </a:graphicData>
        </a:graphic>
      </p:graphicFrame>
      <p:pic>
        <p:nvPicPr>
          <p:cNvPr id="17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bd709f1ab049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33280" y="918461"/>
            <a:ext cx="2138400" cy="19085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8078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0860F7D-0189-4634-9CA6-0F205531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02921"/>
            <a:ext cx="12192000" cy="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85C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E7B2131-EAD8-433C-A905-D46C84D6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374" y="463711"/>
            <a:ext cx="640080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800">
                <a:solidFill>
                  <a:srgbClr val="4B5055"/>
                </a:solidFill>
                <a:latin typeface="PF Centro Sans Pro"/>
                <a:ea typeface="PF Centro Sans Pro"/>
                <a:cs typeface="PF Centro Sans Pro"/>
              </a:rPr>
              <a:t>Вопросы/примечания/пояснения</a:t>
            </a:r>
          </a:p>
        </p:txBody>
      </p:sp>
      <p:pic>
        <p:nvPicPr>
          <p:cNvPr id="20" name="Рисунок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bde368816c4d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11493" y="904210"/>
            <a:ext cx="2138400" cy="190851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D6CD0A-323C-479F-BAE6-06D311D9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2325" b="1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Условия промышленной апробации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629BA6-B685-464E-852E-F7162328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2025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Для испытаний необходимы 1–2 производственных участка, правомерный доступ к видеоданным, участие эксперта охраны труда и согласованные критерии приёмки.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51D055-2C7D-4DAC-853E-7D6DBD45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2025" b="1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Показатели и методика оценки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59C14F-16BC-42AE-BCAA-911F285C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875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Точность и полнота выявления нарушений; ложные тревоги на камеру-час; задержка p95; доступность потоков; трудозатраты оператора и стоимость канала.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951CAC-0152-447B-99AD-66682B19F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0062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2175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Павлов Иван Владимирович</a:t>
            </a:r>
          </a:p>
          <a:p xmlns:a="http://schemas.openxmlformats.org/drawingml/2006/main">
            <a:pPr algn="l">
              <a:defRPr sz="2175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2175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ivanp246459@gmail.com   +7 987 663-19-62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EFC9A4-CCB2-48A2-9964-0843041B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007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350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Влияние на травматизм и экономический эффект подлежат экспериментальной оценке.</a:t>
            </a:r>
          </a:p>
          <a:p xmlns:a="http://schemas.openxmlformats.org/drawingml/2006/main">
            <a:pPr algn="l">
              <a:defRPr sz="1350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defRPr>
            </a:pPr>
            <a:r>
              <a:rPr sz="1350" b="0">
                <a:solidFill>
                  <a:srgbClr val="222C38"/>
                </a:solidFill>
                <a:latin typeface="PF Centro Sans Pro"/>
                <a:ea typeface="PF Centro Sans Pro"/>
                <a:cs typeface="PF Centro Sans Pro"/>
              </a:rPr>
              <a:t>Соответствие требованиям ИБ устанавливается по результатам отдельной проверки.</a:t>
            </a:r>
          </a:p>
        </p:txBody>
      </p:sp>
    </p:spTree>
    <p:extLst>
      <p:ext uri="{BB962C8B-B14F-4D97-AF65-F5344CB8AC3E}">
        <p14:creationId xmlns:p14="http://schemas.microsoft.com/office/powerpoint/2010/main" val="224932280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Павлов Иван Владимирович</dc:creator>
  <lastModifiedBy>Павлов Иван Владимирович</lastModifiedBy>
  <dc:title>HSE AI-Video</dc:title>
  <dcterms:created xsi:type="dcterms:W3CDTF">2026-09-30T17:21:01.8920000Z</dcterms:created>
  <dcterms:modified xsi:type="dcterms:W3CDTF">2026-09-30T17:21:01.8920000Z</dcterms:modified>
</coreProperties>
</file>