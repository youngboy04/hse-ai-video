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83d934cc225476e" /><Relationship Type="http://schemas.openxmlformats.org/officeDocument/2006/relationships/extended-properties" Target="/docProps/app.xml" Id="Rd2b49f2a9a504a76" /><Relationship Type="http://schemas.openxmlformats.org/officeDocument/2006/relationships/officeDocument" Target="/ppt/presentation.xml" Id="R4b0d7b4725684d20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139a002442d842ea"/>
  </p:sldMasterIdLst>
  <p:notesMasterIdLst>
    <p:notesMasterId xmlns:r="http://schemas.openxmlformats.org/officeDocument/2006/relationships" r:id="Rf2079ae21a7d4bf7"/>
  </p:notesMasterIdLst>
  <p:sldIdLst>
    <p:sldId xmlns:r="http://schemas.openxmlformats.org/officeDocument/2006/relationships" id="256" r:id="R6f09f7a6413d43e6"/>
    <p:sldId xmlns:r="http://schemas.openxmlformats.org/officeDocument/2006/relationships" id="257" r:id="R8f7f85151c234e21"/>
    <p:sldId xmlns:r="http://schemas.openxmlformats.org/officeDocument/2006/relationships" id="258" r:id="Rae5f38cdb9044c56"/>
    <p:sldId xmlns:r="http://schemas.openxmlformats.org/officeDocument/2006/relationships" id="259" r:id="R6d8d805c8ac646f0"/>
    <p:sldId xmlns:r="http://schemas.openxmlformats.org/officeDocument/2006/relationships" id="260" r:id="R955a32cd8d994b5b"/>
    <p:sldId xmlns:r="http://schemas.openxmlformats.org/officeDocument/2006/relationships" id="261" r:id="Rb43fc53c326a408a"/>
    <p:sldId xmlns:r="http://schemas.openxmlformats.org/officeDocument/2006/relationships" id="262" r:id="Re9518dd3971f46c2"/>
    <p:sldId xmlns:r="http://schemas.openxmlformats.org/officeDocument/2006/relationships" id="263" r:id="Rfd7e957a57e34b7e"/>
    <p:sldId xmlns:r="http://schemas.openxmlformats.org/officeDocument/2006/relationships" id="264" r:id="R7b369b2a8c1f46ae"/>
    <p:sldId xmlns:r="http://schemas.openxmlformats.org/officeDocument/2006/relationships" id="265" r:id="R4e52745c7f6f4e30"/>
    <p:sldId xmlns:r="http://schemas.openxmlformats.org/officeDocument/2006/relationships" id="266" r:id="R93e58f94bcff4f00"/>
    <p:sldId xmlns:r="http://schemas.openxmlformats.org/officeDocument/2006/relationships" id="267" r:id="R9bb96d05ccca4e02"/>
    <p:sldId xmlns:r="http://schemas.openxmlformats.org/officeDocument/2006/relationships" id="268" r:id="Rbb19e3b1209d4de6"/>
    <p:sldId xmlns:r="http://schemas.openxmlformats.org/officeDocument/2006/relationships" id="269" r:id="Rc72d0ba895844095"/>
  </p:sldIdLst>
  <p:sldSz cx="12192000" cy="6858000"/>
  <p:notesSz cx="6858000" cy="9144000"/>
  <p:embeddedFontLst>
    <p:embeddedFont>
      <p:font typeface="PF Centro Sans Pro"/>
      <p:regular xmlns:r="http://schemas.openxmlformats.org/officeDocument/2006/relationships" r:id="Rc6d8f13fc08b4728"/>
      <p:bold xmlns:r="http://schemas.openxmlformats.org/officeDocument/2006/relationships" r:id="R111a6a41b58449f4"/>
      <p:italic xmlns:r="http://schemas.openxmlformats.org/officeDocument/2006/relationships" r:id="Rb15e93e0f9494ff0"/>
      <p:boldItalic xmlns:r="http://schemas.openxmlformats.org/officeDocument/2006/relationships" r:id="R45d8de8f60534305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0a97fbd6e7e45a5" /><Relationship Type="http://schemas.openxmlformats.org/officeDocument/2006/relationships/slideMaster" Target="/ppt/slideMasters/slideMaster1.xml" Id="R139a002442d842ea" /><Relationship Type="http://schemas.openxmlformats.org/officeDocument/2006/relationships/notesMaster" Target="/ppt/notesMasters/notesMaster1.xml" Id="Rf2079ae21a7d4bf7" /><Relationship Type="http://schemas.openxmlformats.org/officeDocument/2006/relationships/presProps" Target="/ppt/presProps.xml" Id="R4c348802968f473a" /><Relationship Type="http://schemas.openxmlformats.org/officeDocument/2006/relationships/viewProps" Target="/ppt/viewProps.xml" Id="R3d8a76fdd40d4a18" /><Relationship Type="http://schemas.openxmlformats.org/officeDocument/2006/relationships/tableStyles" Target="/ppt/tableStyles.xml" Id="R702d5ffe71bf4846" /><Relationship Type="http://schemas.openxmlformats.org/officeDocument/2006/relationships/font" Target="/ppt/fonts/font.dat" Id="Rc6d8f13fc08b4728" /><Relationship Type="http://schemas.openxmlformats.org/officeDocument/2006/relationships/font" Target="/ppt/fonts/font2.dat" Id="R111a6a41b58449f4" /><Relationship Type="http://schemas.openxmlformats.org/officeDocument/2006/relationships/font" Target="/ppt/fonts/font3.dat" Id="Rb15e93e0f9494ff0" /><Relationship Type="http://schemas.openxmlformats.org/officeDocument/2006/relationships/font" Target="/ppt/fonts/font4.dat" Id="R45d8de8f60534305" /><Relationship Type="http://schemas.openxmlformats.org/officeDocument/2006/relationships/slide" Target="/ppt/slides/slide1.xml" Id="R6f09f7a6413d43e6" /><Relationship Type="http://schemas.openxmlformats.org/officeDocument/2006/relationships/slide" Target="/ppt/slides/slide2.xml" Id="R8f7f85151c234e21" /><Relationship Type="http://schemas.openxmlformats.org/officeDocument/2006/relationships/slide" Target="/ppt/slides/slide3.xml" Id="Rae5f38cdb9044c56" /><Relationship Type="http://schemas.openxmlformats.org/officeDocument/2006/relationships/slide" Target="/ppt/slides/slide4.xml" Id="R6d8d805c8ac646f0" /><Relationship Type="http://schemas.openxmlformats.org/officeDocument/2006/relationships/slide" Target="/ppt/slides/slide5.xml" Id="R955a32cd8d994b5b" /><Relationship Type="http://schemas.openxmlformats.org/officeDocument/2006/relationships/slide" Target="/ppt/slides/slide6.xml" Id="Rb43fc53c326a408a" /><Relationship Type="http://schemas.openxmlformats.org/officeDocument/2006/relationships/slide" Target="/ppt/slides/slide7.xml" Id="Re9518dd3971f46c2" /><Relationship Type="http://schemas.openxmlformats.org/officeDocument/2006/relationships/slide" Target="/ppt/slides/slide8.xml" Id="Rfd7e957a57e34b7e" /><Relationship Type="http://schemas.openxmlformats.org/officeDocument/2006/relationships/slide" Target="/ppt/slides/slide9.xml" Id="R7b369b2a8c1f46ae" /><Relationship Type="http://schemas.openxmlformats.org/officeDocument/2006/relationships/slide" Target="/ppt/slides/slide10.xml" Id="R4e52745c7f6f4e30" /><Relationship Type="http://schemas.openxmlformats.org/officeDocument/2006/relationships/slide" Target="/ppt/slides/slide11.xml" Id="R93e58f94bcff4f00" /><Relationship Type="http://schemas.openxmlformats.org/officeDocument/2006/relationships/slide" Target="/ppt/slides/slide12.xml" Id="R9bb96d05ccca4e02" /><Relationship Type="http://schemas.openxmlformats.org/officeDocument/2006/relationships/slide" Target="/ppt/slides/slide13.xml" Id="Rbb19e3b1209d4de6" /><Relationship Type="http://schemas.openxmlformats.org/officeDocument/2006/relationships/slide" Target="/ppt/slides/slide14.xml" Id="Rc72d0ba89584409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68e761c175140f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890e4ec01a74cf9" /><Relationship Type="http://schemas.openxmlformats.org/officeDocument/2006/relationships/notesMaster" Target="/ppt/notesMasters/notesMaster1.xml" Id="R2978f1a3ec0f422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cb9e258b5754fc8" /><Relationship Type="http://schemas.openxmlformats.org/officeDocument/2006/relationships/notesMaster" Target="/ppt/notesMasters/notesMaster1.xml" Id="Rd98b9bad7597455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420be5eedd941d7" /><Relationship Type="http://schemas.openxmlformats.org/officeDocument/2006/relationships/notesMaster" Target="/ppt/notesMasters/notesMaster1.xml" Id="Raed454edba5f431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af55dec40dd4d65" /><Relationship Type="http://schemas.openxmlformats.org/officeDocument/2006/relationships/notesMaster" Target="/ppt/notesMasters/notesMaster1.xml" Id="R89469fffc7b74f6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65ffdd673bd4783" /><Relationship Type="http://schemas.openxmlformats.org/officeDocument/2006/relationships/notesMaster" Target="/ppt/notesMasters/notesMaster1.xml" Id="R077e551810d847a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22a67fec8b04476" /><Relationship Type="http://schemas.openxmlformats.org/officeDocument/2006/relationships/notesMaster" Target="/ppt/notesMasters/notesMaster1.xml" Id="R808fa676ec754a9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b246b36b4cb43a5" /><Relationship Type="http://schemas.openxmlformats.org/officeDocument/2006/relationships/notesMaster" Target="/ppt/notesMasters/notesMaster1.xml" Id="R7ee9449bb3d040c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f18ef9c3b054a01" /><Relationship Type="http://schemas.openxmlformats.org/officeDocument/2006/relationships/notesMaster" Target="/ppt/notesMasters/notesMaster1.xml" Id="R4b59b4128bc74e4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1905a6111cc4a5a" /><Relationship Type="http://schemas.openxmlformats.org/officeDocument/2006/relationships/notesMaster" Target="/ppt/notesMasters/notesMaster1.xml" Id="R7051254ec877404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1222287312f4083" /><Relationship Type="http://schemas.openxmlformats.org/officeDocument/2006/relationships/notesMaster" Target="/ppt/notesMasters/notesMaster1.xml" Id="Rdc0e74ba53d241d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ac9cea9b78e4d02" /><Relationship Type="http://schemas.openxmlformats.org/officeDocument/2006/relationships/notesMaster" Target="/ppt/notesMasters/notesMaster1.xml" Id="Re1adc5d1a58f4b6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5291f42fc2a4281" /><Relationship Type="http://schemas.openxmlformats.org/officeDocument/2006/relationships/notesMaster" Target="/ppt/notesMasters/notesMaster1.xml" Id="R744d35aa90e3498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0ae207ec3e64ec4" /><Relationship Type="http://schemas.openxmlformats.org/officeDocument/2006/relationships/notesMaster" Target="/ppt/notesMasters/notesMaster1.xml" Id="R73d033722c7d469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9de2e07b524439d" /><Relationship Type="http://schemas.openxmlformats.org/officeDocument/2006/relationships/notesMaster" Target="/ppt/notesMasters/notesMaster1.xml" Id="Raca659c8e0974a8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Материалы на 30.09.2026. Финансовые и рыночные значения являются расчётными допущениями, не фактическими результатами. Исходный шаблон: https://disk.yandex.ru/i/c1y-P05091tw9A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Материалы на 30.09.2026. Финансовые и рыночные значения являются расчётными допущениями, не фактическими результатами. Исходный шаблон: https://disk.yandex.ru/i/c1y-P05091tw9A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Материалы на 30.09.2026. Финансовые и рыночные значения являются расчётными допущениями, не фактическими результатами. Исходный шаблон: https://disk.yandex.ru/i/c1y-P05091tw9A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Материалы на 30.09.2026. Финансовые и рыночные значения являются расчётными допущениями, не фактическими результатами. Исходный шаблон: https://disk.yandex.ru/i/c1y-P05091tw9A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Материалы на 30.09.2026. Финансовые и рыночные значения являются расчётными допущениями, не фактическими результатами. Исходный шаблон: https://disk.yandex.ru/i/c1y-P05091tw9A</a:t>
            </a:r>
          </a:p>
          <a:p xmlns:a="http://schemas.openxmlformats.org/drawingml/2006/main">
            <a:r>
              <a:t>TRASSIR: https://trassir.ru/products/programmnoe_obespechenie_trassir/trassir_videoanalitika/trassir_hardhat_detector/</a:t>
            </a:r>
          </a:p>
          <a:p xmlns:a="http://schemas.openxmlformats.org/drawingml/2006/main">
            <a:r>
              <a:t>EYECONT: https://www.mallenom.ru/products/eyecont/eyecont_vms/Kontrol-SIZ</a:t>
            </a:r>
          </a:p>
          <a:p xmlns:a="http://schemas.openxmlformats.org/drawingml/2006/main">
            <a:r>
              <a:t>NtechLab: https://ntechlab.ru/</a:t>
            </a:r>
          </a:p>
          <a:p xmlns:a="http://schemas.openxmlformats.org/drawingml/2006/main">
            <a:r>
              <a:t>Проверено 30.09.2026. Здесь сравнивается заявленный функционал, а не результаты сравнительных испытаний.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Материалы на 30.09.2026. Финансовые и рыночные значения являются расчётными допущениями, не фактическими результатами. Исходный шаблон: https://disk.yandex.ru/i/c1y-P05091tw9A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Материалы на 30.09.2026. Финансовые и рыночные значения являются расчётными допущениями, не фактическими результатами. Исходный шаблон: https://disk.yandex.ru/i/c1y-P05091tw9A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Материалы на 30.09.2026. Финансовые и рыночные значения являются расчётными допущениями, не фактическими результатами. Исходный шаблон: https://disk.yandex.ru/i/c1y-P05091tw9A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Материалы на 30.09.2026. Финансовые и рыночные значения являются расчётными допущениями, не фактическими результатами. Исходный шаблон: https://disk.yandex.ru/i/c1y-P05091tw9A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Материалы на 30.09.2026. Финансовые и рыночные значения являются расчётными допущениями, не фактическими результатами. Исходный шаблон: https://disk.yandex.ru/i/c1y-P05091tw9A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Материалы на 30.09.2026. Финансовые и рыночные значения являются расчётными допущениями, не фактическими результатами. Исходный шаблон: https://disk.yandex.ru/i/c1y-P05091tw9A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Материалы на 30.09.2026. Финансовые и рыночные значения являются расчётными допущениями, не фактическими результатами. Исходный шаблон: https://disk.yandex.ru/i/c1y-P05091tw9A</a:t>
            </a:r>
          </a:p>
          <a:p xmlns:a="http://schemas.openxmlformats.org/drawingml/2006/main">
            <a:r>
              <a:t>Предобученная модель Ultralytics YOLO11n, собственное обучение не выполнялось. Модель: https://docs.ultralytics.com/models/yolo11/; набор: https://docs.ultralytics.com/datasets/detect/coco8/. COCO8 происходит из COCO train2017; пересечение с обучением возможно. Протокол: docs/evidence/report.json и report.html; confidence=0.35, IoU=0.5, CPUExecutionProvider, 3 прогрева, 8 измерений; TP=4, FP=0, FN=6; медиана 77.21 мс, p95 114.38 мс. Хеш ONNX: a219f5401fb1af4d2cb01027d8e6e500b0f5e519ffbaeccbead57c375c75de07. Видео: Two construction workers, Mixkit #1436, https://mixkit.co/free-stock-video/two-construction-workers-1436/; Mixkit Stock Video Free License: https://mixkit.co/license/#videoFree. Добавлены рамки и подписи реальных результатов, это не видео пилотного предприятия. Протокол: public/samples/workers-analysis.json; 127 анализируемых кадров, 8 кадров/с, ID 1 и 2. Точность по этому видео не измерялась. СИЗ, события и падения не оцениваются.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Материалы на 30.09.2026. Финансовые и рыночные значения являются расчётными допущениями, не фактическими результатами. Исходный шаблон: https://disk.yandex.ru/i/c1y-P05091tw9A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Материалы на 30.09.2026. Финансовые и рыночные значения являются расчётными допущениями, не фактическими результатами. Исходный шаблон: https://disk.yandex.ru/i/c1y-P05091tw9A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4cee55368748f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43c04684fa46b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8bc9c4b77a41a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6ededbf0d94b4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02e74531914bb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7955851dd14a9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c98c77f269498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bda72f3a4f4cc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e1c0a35ab04b8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b148749a614ff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c2f4ba8b47465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C7017D-F9FA-4245-8469-FC8F337E8B0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1FAA04C-18EF-4DAE-BEA1-6EB7E65BDB5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F05EA2E-D83B-4A0A-A51D-C180D1641A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627CB50-25DB-4754-870B-3324F7578979}" type="datetimeFigureOut">
              <a:t>17.05.2026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57CDD2D-1967-4AE0-87BB-D2DB7AFDC4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6543CA1-10B7-4E02-8389-9F2149556B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A628785-88D2-4034-83E5-3DAE35A9F6DB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E6E232-1505-4FD2-ADDC-4CC54EDD25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D54F32B-8AE7-4A54-9109-BB175746211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6C6D15E-5756-4F32-9E04-ECF0A10EBD8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627CB50-25DB-4754-870B-3324F7578979}" type="datetimeFigureOut">
              <a:t>17.05.2026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42D12A-F806-492C-9F5B-CE54FD0B4A3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0FA304C-ED61-4FB8-B182-88552F9CD3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A628785-88D2-4034-83E5-3DAE35A9F6DB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6300175-5F82-4443-ADA8-D93B634DF6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433C73D-B841-4943-8906-86080076D67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63A1252-D79F-47CC-B7DB-52CD87BAC03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627CB50-25DB-4754-870B-3324F7578979}" type="datetimeFigureOut">
              <a:t>17.05.2026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F4273E-3D9A-4E12-BC42-30B4E0A2C3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38455C1-0BF4-4D5A-B30A-6E58F740FA2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A628785-88D2-4034-83E5-3DAE35A9F6DB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E12A8B-1165-4913-AC23-9E2191733A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C2AD3CD-724B-4CCB-8183-C20027CE08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69AA905-9FF5-4273-A560-DCCD826D095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8A4AC2A-1485-4F11-A74F-97F5DE0BFD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627CB50-25DB-4754-870B-3324F7578979}" type="datetimeFigureOut">
              <a:t>17.05.2026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63C9977-4AAC-42C4-86B7-738C210F763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2016986-0D25-40E4-9471-351F983024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A628785-88D2-4034-83E5-3DAE35A9F6DB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36E4DB-762D-49B8-B9C6-8943CCD591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23B69E9-1030-4EC4-9A9B-0994EBA18EC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E3D4BAC-9BA7-47C3-BAB2-7A152D31D5B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67BE825E-47F9-4224-9122-CC01F339816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49CA2D9-C142-4926-9751-F0BC4D4156D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3CAC650-9D1A-46FC-AFF3-4F630B94508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627CB50-25DB-4754-870B-3324F7578979}" type="datetimeFigureOut">
              <a:t>17.05.2026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0AD0715-888E-4540-A763-914639AF224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7B3177F-D4A1-40E4-89CD-D49B75A8929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A628785-88D2-4034-83E5-3DAE35A9F6DB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D61C91C-4274-4318-8E69-B9635F57A0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74968D1-2302-4B79-ADBD-303542ED353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627CB50-25DB-4754-870B-3324F7578979}" type="datetimeFigureOut">
              <a:t>17.05.2026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8E56A25-9E47-4C87-A9CA-40214A69986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23646C4-1B51-405C-B369-D2381D1276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A628785-88D2-4034-83E5-3DAE35A9F6DB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E112F68-E11A-43BC-8E85-E32B4485D7D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627CB50-25DB-4754-870B-3324F7578979}" type="datetimeFigureOut">
              <a:t>17.05.2026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E3F4271-95BD-4797-8043-ECD004A9A71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5AB8F9D-86A8-47E1-988F-B7648D3D13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A628785-88D2-4034-83E5-3DAE35A9F6DB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5FC92E7-F987-4E77-AA68-C83CD6A195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22EEB74-F6A0-4C87-8DB2-352441858EA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4C30400-7233-4768-9C98-DD47F5CAD41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CAA723B-3DBE-4B37-B390-9F608B31C2A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627CB50-25DB-4754-870B-3324F7578979}" type="datetimeFigureOut">
              <a:t>17.05.2026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54A18D0-781E-4BD9-9553-E9494091FF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F7CE002-460A-4238-A4FD-F01B135332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A628785-88D2-4034-83E5-3DAE35A9F6DB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07F2948-76B4-48B9-8436-0727922D0C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7808275-D54D-48DE-9977-8953946667F3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C2170BA-1724-408B-A502-415A0F36F6B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CD5342C-CAF8-42D0-8D36-C2C888EE54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627CB50-25DB-4754-870B-3324F7578979}" type="datetimeFigureOut">
              <a:t>17.05.2026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7BF8223-CD36-4061-990F-7FAA6B8201F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2AC789D-36BF-483B-86C7-84C8E8F64F9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A628785-88D2-4034-83E5-3DAE35A9F6DB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EF3F697-1D8C-4BDD-B6FF-71B586C306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DFBC08F-5B7C-4990-B4C0-609F79D4A8C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1927D51-2F35-4F0A-B87A-976F42D74C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627CB50-25DB-4754-870B-3324F7578979}" type="datetimeFigureOut">
              <a:t>17.05.2026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7B314CE-EE7A-49A8-B3C7-C77319DCAA8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9E2942-F57D-4A99-9753-9267126D55A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A628785-88D2-4034-83E5-3DAE35A9F6DB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EBA4EA0-CF85-4D70-9F1F-E7D3760F4E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6EA2E24-3B41-4099-978F-3C3A4460BD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2EF0172-212B-4268-AEA3-C26B9977EC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627CB50-25DB-4754-870B-3324F7578979}" type="datetimeFigureOut">
              <a:t>17.05.2026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E99947C-0D4F-4192-98B9-59EBB54EC3C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35F223B-F5A0-4EF6-A858-BF61F5D0AD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A628785-88D2-4034-83E5-3DAE35A9F6DB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22a44c3f7c0414e" /><Relationship Type="http://schemas.openxmlformats.org/officeDocument/2006/relationships/slideLayout" Target="/ppt/slideLayouts/slideLayout1.xml" Id="R82c1a721e72e455d" /><Relationship Type="http://schemas.openxmlformats.org/officeDocument/2006/relationships/slideLayout" Target="/ppt/slideLayouts/slideLayout2.xml" Id="R92a2e5938c004fee" /><Relationship Type="http://schemas.openxmlformats.org/officeDocument/2006/relationships/slideLayout" Target="/ppt/slideLayouts/slideLayout3.xml" Id="Ra549adf6dc3644fd" /><Relationship Type="http://schemas.openxmlformats.org/officeDocument/2006/relationships/slideLayout" Target="/ppt/slideLayouts/slideLayout4.xml" Id="R1f935bb8e9ed4f82" /><Relationship Type="http://schemas.openxmlformats.org/officeDocument/2006/relationships/slideLayout" Target="/ppt/slideLayouts/slideLayout5.xml" Id="Rb84808408bf34440" /><Relationship Type="http://schemas.openxmlformats.org/officeDocument/2006/relationships/slideLayout" Target="/ppt/slideLayouts/slideLayout6.xml" Id="R1406441b335b4184" /><Relationship Type="http://schemas.openxmlformats.org/officeDocument/2006/relationships/slideLayout" Target="/ppt/slideLayouts/slideLayout7.xml" Id="R73cf0764e6664041" /><Relationship Type="http://schemas.openxmlformats.org/officeDocument/2006/relationships/slideLayout" Target="/ppt/slideLayouts/slideLayout8.xml" Id="R573b60a9314e4214" /><Relationship Type="http://schemas.openxmlformats.org/officeDocument/2006/relationships/slideLayout" Target="/ppt/slideLayouts/slideLayout9.xml" Id="Rebdd22aa9f784fb3" /><Relationship Type="http://schemas.openxmlformats.org/officeDocument/2006/relationships/slideLayout" Target="/ppt/slideLayouts/slideLayout10.xml" Id="Rf0215cce29514fea" /><Relationship Type="http://schemas.openxmlformats.org/officeDocument/2006/relationships/slideLayout" Target="/ppt/slideLayouts/slideLayout11.xml" Id="Rb090bebeb53c450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D747363-04EC-459A-BD79-EE6D6B42A0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87A1D8B-4458-438F-BE79-1921EB6DBA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6D1F3D7-7CDB-4385-9C41-55C04C6CB9C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3627CB50-25DB-4754-870B-3324F7578979}" type="datetimeFigureOut">
              <a:t>17.05.2026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9E13E3B-513E-40C0-A612-F8CA632C867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A9A833A-C603-4C56-AD60-F0CDA190D1C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FA628785-88D2-4034-83E5-3DAE35A9F6D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c1a721e72e455d"/>
    <p:sldLayoutId xmlns:r="http://schemas.openxmlformats.org/officeDocument/2006/relationships" id="2147483650" r:id="R92a2e5938c004fee"/>
    <p:sldLayoutId xmlns:r="http://schemas.openxmlformats.org/officeDocument/2006/relationships" id="2147483651" r:id="Ra549adf6dc3644fd"/>
    <p:sldLayoutId xmlns:r="http://schemas.openxmlformats.org/officeDocument/2006/relationships" id="2147483652" r:id="R1f935bb8e9ed4f82"/>
    <p:sldLayoutId xmlns:r="http://schemas.openxmlformats.org/officeDocument/2006/relationships" id="2147483653" r:id="Rb84808408bf34440"/>
    <p:sldLayoutId xmlns:r="http://schemas.openxmlformats.org/officeDocument/2006/relationships" id="2147483654" r:id="R1406441b335b4184"/>
    <p:sldLayoutId xmlns:r="http://schemas.openxmlformats.org/officeDocument/2006/relationships" id="2147483655" r:id="R73cf0764e6664041"/>
    <p:sldLayoutId xmlns:r="http://schemas.openxmlformats.org/officeDocument/2006/relationships" id="2147483656" r:id="R573b60a9314e4214"/>
    <p:sldLayoutId xmlns:r="http://schemas.openxmlformats.org/officeDocument/2006/relationships" id="2147483657" r:id="Rebdd22aa9f784fb3"/>
    <p:sldLayoutId xmlns:r="http://schemas.openxmlformats.org/officeDocument/2006/relationships" id="2147483658" r:id="Rf0215cce29514fea"/>
    <p:sldLayoutId xmlns:r="http://schemas.openxmlformats.org/officeDocument/2006/relationships" id="2147483659" r:id="Rb090bebeb53c4507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839aa51511456c" /><Relationship Type="http://schemas.openxmlformats.org/officeDocument/2006/relationships/image" Target="/ppt/media/image.png" Id="R977920ad642c4474" /><Relationship Type="http://schemas.openxmlformats.org/officeDocument/2006/relationships/image" Target="/ppt/media/image.jpeg" Id="Rfcb0da9930cb4d8d" /><Relationship Type="http://schemas.openxmlformats.org/officeDocument/2006/relationships/image" Target="/ppt/media/image2.png" Id="R7e19f9b166154e89" /><Relationship Type="http://schemas.openxmlformats.org/officeDocument/2006/relationships/notesSlide" Target="/ppt/notesSlides/notesSlide1.xml" Id="Re307d928964147e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40200254c341de" /><Relationship Type="http://schemas.openxmlformats.org/officeDocument/2006/relationships/image" Target="/ppt/media/image.jpeg" Id="Rb5eb9cb5af104c5b" /><Relationship Type="http://schemas.openxmlformats.org/officeDocument/2006/relationships/notesSlide" Target="/ppt/notesSlides/notesSlide2.xml" Id="R655d67b9cda8493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2d2fac5c214366" /><Relationship Type="http://schemas.openxmlformats.org/officeDocument/2006/relationships/image" Target="/ppt/media/image.jpeg" Id="R994dd5724ca44775" /><Relationship Type="http://schemas.openxmlformats.org/officeDocument/2006/relationships/notesSlide" Target="/ppt/notesSlides/notesSlide3.xml" Id="Rc1490895fccc48f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23753c59c54bf2" /><Relationship Type="http://schemas.openxmlformats.org/officeDocument/2006/relationships/image" Target="/ppt/media/image.jpeg" Id="R3b401b11e147456f" /><Relationship Type="http://schemas.openxmlformats.org/officeDocument/2006/relationships/image" Target="/ppt/media/image3.png" Id="Re25f4c1256934810" /><Relationship Type="http://schemas.openxmlformats.org/officeDocument/2006/relationships/notesSlide" Target="/ppt/notesSlides/notesSlide4.xml" Id="R0297ae03a99f42e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c057780c0d43d8" /><Relationship Type="http://schemas.openxmlformats.org/officeDocument/2006/relationships/image" Target="/ppt/media/image.jpeg" Id="Rc7a1470ea46f4a67" /><Relationship Type="http://schemas.openxmlformats.org/officeDocument/2006/relationships/notesSlide" Target="/ppt/notesSlides/notesSlide5.xml" Id="R5a5a485015d643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edf0749b964da5" /><Relationship Type="http://schemas.openxmlformats.org/officeDocument/2006/relationships/image" Target="/ppt/media/image.jpeg" Id="R471c226104fa4ade" /><Relationship Type="http://schemas.openxmlformats.org/officeDocument/2006/relationships/notesSlide" Target="/ppt/notesSlides/notesSlide6.xml" Id="R72f04ad1de034e2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d08d886c4d4bb3" /><Relationship Type="http://schemas.openxmlformats.org/officeDocument/2006/relationships/image" Target="/ppt/media/image.jpeg" Id="R8203982bad9541fc" /><Relationship Type="http://schemas.openxmlformats.org/officeDocument/2006/relationships/notesSlide" Target="/ppt/notesSlides/notesSlide7.xml" Id="R71b054dbe3054ac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5f49328dbe4f7a" /><Relationship Type="http://schemas.openxmlformats.org/officeDocument/2006/relationships/image" Target="/ppt/media/image.jpeg" Id="R7879cc87f7fe4190" /><Relationship Type="http://schemas.openxmlformats.org/officeDocument/2006/relationships/notesSlide" Target="/ppt/notesSlides/notesSlide8.xml" Id="Ra0814163ea79461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53e4758e024348" /><Relationship Type="http://schemas.openxmlformats.org/officeDocument/2006/relationships/image" Target="/ppt/media/image.jpeg" Id="R3c757882b18e4750" /><Relationship Type="http://schemas.openxmlformats.org/officeDocument/2006/relationships/notesSlide" Target="/ppt/notesSlides/notesSlide9.xml" Id="R400808c4a0e04b5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fd454b0f7d4532" /><Relationship Type="http://schemas.openxmlformats.org/officeDocument/2006/relationships/image" Target="/ppt/media/image.jpeg" Id="R5cfa2c25c20d4639" /><Relationship Type="http://schemas.openxmlformats.org/officeDocument/2006/relationships/notesSlide" Target="/ppt/notesSlides/notesSlide10.xml" Id="R53fd769695384e2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468c49f7bd4aaf" /><Relationship Type="http://schemas.openxmlformats.org/officeDocument/2006/relationships/image" Target="/ppt/media/image.jpeg" Id="R8bd9c07f437a4cf9" /><Relationship Type="http://schemas.openxmlformats.org/officeDocument/2006/relationships/notesSlide" Target="/ppt/notesSlides/notesSlide11.xml" Id="Ra6d03c9064b5405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932130bf9f432e" /><Relationship Type="http://schemas.openxmlformats.org/officeDocument/2006/relationships/image" Target="/ppt/media/image.jpeg" Id="R809efed257074461" /><Relationship Type="http://schemas.openxmlformats.org/officeDocument/2006/relationships/image" Target="/ppt/media/image4.png" Id="Rec1cd661b0f74082" /><Relationship Type="http://schemas.openxmlformats.org/officeDocument/2006/relationships/notesSlide" Target="/ppt/notesSlides/notesSlide12.xml" Id="R2b345b69f99e4ea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d9023eb5424cc9" /><Relationship Type="http://schemas.openxmlformats.org/officeDocument/2006/relationships/image" Target="/ppt/media/image.jpeg" Id="R7a7929b7f4714388" /><Relationship Type="http://schemas.openxmlformats.org/officeDocument/2006/relationships/notesSlide" Target="/ppt/notesSlides/notesSlide13.xml" Id="R8d4dcc29e62447d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9fa589be614927" /><Relationship Type="http://schemas.openxmlformats.org/officeDocument/2006/relationships/image" Target="/ppt/media/image.jpeg" Id="R7c5b147335644dff" /><Relationship Type="http://schemas.openxmlformats.org/officeDocument/2006/relationships/notesSlide" Target="/ppt/notesSlides/notesSlide14.xml" Id="Rbf9451bb634b40b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0200F7-1704-45B1-8695-E3BE819BDC0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238875" y="1666875"/>
            <a:ext cx="5619750" cy="333375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202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HSE AI-Video</a:t>
            </a:r>
          </a:p>
          <a:p xmlns:a="http://schemas.openxmlformats.org/drawingml/2006/main">
            <a:pPr algn="l">
              <a:buNone/>
              <a:defRPr sz="202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202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Видеоаналитика охраны труда</a:t>
            </a:r>
          </a:p>
          <a:p xmlns:a="http://schemas.openxmlformats.org/drawingml/2006/main">
            <a:pPr algn="l">
              <a:buNone/>
            </a:pPr>
            <a:r>
              <a:t/>
            </a:r>
          </a:p>
          <a:p xmlns:a="http://schemas.openxmlformats.org/drawingml/2006/main">
            <a:pPr algn="l">
              <a:buNone/>
              <a:defRPr sz="202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202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Павлов Иван Владимирович</a:t>
            </a:r>
          </a:p>
          <a:p xmlns:a="http://schemas.openxmlformats.org/drawingml/2006/main">
            <a:pPr algn="l">
              <a:buNone/>
              <a:defRPr sz="202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202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Инициатор проекта</a:t>
            </a:r>
          </a:p>
          <a:p xmlns:a="http://schemas.openxmlformats.org/drawingml/2006/main">
            <a:pPr algn="l">
              <a:buNone/>
            </a:pPr>
            <a:r>
              <a:t/>
            </a:r>
          </a:p>
          <a:p xmlns:a="http://schemas.openxmlformats.org/drawingml/2006/main">
            <a:pPr algn="l">
              <a:buNone/>
              <a:defRPr sz="202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202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ivanp246459@gmail.com</a:t>
            </a:r>
          </a:p>
          <a:p xmlns:a="http://schemas.openxmlformats.org/drawingml/2006/main">
            <a:pPr algn="l">
              <a:buNone/>
              <a:defRPr sz="202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202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+7 987 663-19-62</a:t>
            </a:r>
          </a:p>
          <a:p xmlns:a="http://schemas.openxmlformats.org/drawingml/2006/main">
            <a:pPr algn="l">
              <a:buNone/>
              <a:defRPr sz="202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202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30 сентября 2026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22A8942-5A64-4CCC-89F5-B4B4C6902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15630"/>
            <a:ext cx="12192000" cy="144237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2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>
              <a:shade val="50000"/>
            </a:schemeClr>
          </a:lnRef>
          <a:fillRef xmlns:a="http://schemas.openxmlformats.org/drawingml/2006/main" idx="1">
            <a:schemeClr val="dk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D613E4E-8343-4A7F-B703-96A3F0386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79630"/>
            <a:ext cx="12192000" cy="72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75A0D06-72D3-47D3-B0E7-C1CDFB2CE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637" y="5832101"/>
            <a:ext cx="11439842" cy="5232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>
                <a:solidFill>
                  <a:srgbClr val="FFFFFF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2775">
                <a:solidFill>
                  <a:srgbClr val="FFFFFF"/>
                </a:solidFill>
                <a:latin typeface="PF Centro Sans Pro"/>
                <a:ea typeface="PF Centro Sans Pro"/>
                <a:cs typeface="PF Centro Sans Pro"/>
              </a:rPr>
              <a:t>Конкурсная работа: «HSE AI-Video»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6F4A1C5-529B-B95E-7E73-D61094EB1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2" y="345939"/>
            <a:ext cx="3264768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r>
              <a:rPr>
                <a:latin typeface="PF Centro Sans Pro"/>
                <a:ea typeface="PF Centro Sans Pro"/>
                <a:cs typeface="PF Centro Sans Pro"/>
              </a:rPr>
              <a:t/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B979F07A-81A3-4BD1-A32A-8040BE693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637" y="321444"/>
            <a:ext cx="5156488" cy="4699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sysClr val="window" lastClr="FFFFFF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21" name="Pictur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7920ad642c4474">
            <a:biLevel thresh="5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95493" y="55954"/>
            <a:ext cx="2820474" cy="5845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2" name="Рисунок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b0da9930cb4d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95493" y="566073"/>
            <a:ext cx="2138400" cy="190851"/>
          </a:xfrm>
          <a:prstGeom xmlns:a="http://schemas.openxmlformats.org/drawingml/2006/main" prst="rect">
            <a:avLst/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19f9b166154e89"/>
          <a:stretch xmlns:a="http://schemas.openxmlformats.org/drawingml/2006/main"/>
        </p:blipFill>
        <p:spPr>
          <a:xfrm xmlns:a="http://schemas.openxmlformats.org/drawingml/2006/main">
            <a:off x="542925" y="806318"/>
            <a:ext cx="5153025" cy="357849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CF207-E369-4ECF-B1F9-667285933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29125"/>
            <a:ext cx="5048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5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Рабочий интерфейс прототипа</a:t>
            </a:r>
          </a:p>
          <a:p xmlns:a="http://schemas.openxmlformats.org/drawingml/2006/main">
            <a:pPr algn="l">
              <a:defRPr sz="15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5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Синтетические потоки и события</a:t>
            </a:r>
          </a:p>
        </p:txBody>
      </p:sp>
    </p:spTree>
    <p:extLst>
      <p:ext uri="{BB962C8B-B14F-4D97-AF65-F5344CB8AC3E}">
        <p14:creationId xmlns:p14="http://schemas.microsoft.com/office/powerpoint/2010/main" val="306220008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A57723B-34E9-4FA8-B1A3-AD287D59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993112"/>
            <a:ext cx="12192000" cy="86505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2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>
              <a:shade val="50000"/>
            </a:schemeClr>
          </a:lnRef>
          <a:fillRef xmlns:a="http://schemas.openxmlformats.org/drawingml/2006/main" idx="1">
            <a:schemeClr val="dk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5B401FE-5177-4A4A-86C4-E7336593F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993111"/>
            <a:ext cx="12192000" cy="81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85C4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F2B0F31-35F1-4223-83B0-B5E26A65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418" y="6126450"/>
            <a:ext cx="6400800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800">
                <a:solidFill>
                  <a:schemeClr val="bg1"/>
                </a:solidFill>
                <a:latin typeface="PF Centro Sans Pro"/>
                <a:ea typeface="PF Centro Sans Pro"/>
                <a:cs typeface="PF Centro Sans Pro"/>
              </a:rPr>
              <a:t>Резюме проекта (концепция)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C6FD24B-AC62-4B03-34AE-0387167AA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71500"/>
            <a:ext cx="10572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87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Локальная видеоаналитика охраны труда. Первый сценарий: вход человека в опасную зону, единый инцидент и материал для разбора оператором.</a:t>
            </a:r>
            <a:endParaRPr/>
          </a:p>
          <a:p xmlns:a="http://schemas.openxmlformats.org/drawingml/2006/main">
            <a:r>
              <a:rPr sz="1800">
                <a:latin typeface="Times New Roman"/>
                <a:ea typeface="Times New Roman"/>
                <a:cs typeface="Times New Roman"/>
              </a:rPr>
              <a:t/>
            </a:r>
          </a:p>
          <a:p xmlns:a="http://schemas.openxmlformats.org/drawingml/2006/main">
            <a:pPr algn="l">
              <a:buNone/>
              <a:defRPr sz="187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87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Цель ближайшего этапа: пилот на 1–2 участках с измерением ошибок, задержки и времени разбора событий.</a:t>
            </a:r>
          </a:p>
          <a:p xmlns:a="http://schemas.openxmlformats.org/drawingml/2006/main">
            <a:pPr algn="just">
              <a:buNone/>
            </a:pPr>
            <a:r>
              <a:rPr sz="1600">
                <a:latin typeface="PF Centro Sans Pro"/>
                <a:ea typeface="PF Centro Sans Pro"/>
                <a:cs typeface="PF Centro Sans Pro"/>
              </a:rPr>
              <a:t/>
            </a:r>
          </a:p>
          <a:p xmlns:a="http://schemas.openxmlformats.org/drawingml/2006/main">
            <a:pPr algn="l">
              <a:buNone/>
              <a:defRPr sz="187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87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Готовность: рабочий прототип, подключённый YOLO11n и протокол проверки на фотографиях. Модели СИЗ и испытания на предприятии предстоят.</a:t>
            </a:r>
          </a:p>
        </p:txBody>
      </p:sp>
      <p:pic>
        <p:nvPicPr>
          <p:cNvPr id="18" name="Рисунок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eb9cb5af104c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99733" y="6126450"/>
            <a:ext cx="2138400" cy="190851"/>
          </a:xfrm>
          <a:prstGeom xmlns:a="http://schemas.openxmlformats.org/drawingml/2006/main" prst="rect">
            <a:avLst/>
          </a:prstGeom>
        </p:spPr>
      </p:pic>
      <p:graphicFrame>
        <p:nvGraphicFramePr>
          <p:cNvPr id="19" name=""/>
          <p:cNvGraphicFramePr/>
          <p:nvPr/>
        </p:nvGraphicFramePr>
        <p:xfrm>
          <a:off xmlns:a="http://schemas.openxmlformats.org/drawingml/2006/main" x="952500" y="3524250"/>
          <a:ext xmlns:a="http://schemas.openxmlformats.org/drawingml/2006/main" cx="10382250" cy="1809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429500"/>
                <a:gridCol w="2952750"/>
              </a:tblGrid>
              <a:tr h="4524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Финансовая гипотеза на 3 года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Значение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</a:tr>
              <a:tr h="4524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Первоначальные затраты / финансирование с учётом дефицита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1,50 / 1,71 млн руб.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</a:tr>
              <a:tr h="4524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Окупаемость / дисконтированная окупаемость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2,40 / 2,79 года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</a:tr>
              <a:tr h="4524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NPV при ставке 20% / IRR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0,32 млн руб. / 28,1%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8ED674-9AD0-4438-B89A-9EF52B1A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4292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35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Расчётный сценарий, не подтверждённый спрос. Допущения и чувствительность: слайды 6, 10, 11.</a:t>
            </a:r>
          </a:p>
        </p:txBody>
      </p:sp>
    </p:spTree>
    <p:extLst>
      <p:ext uri="{BB962C8B-B14F-4D97-AF65-F5344CB8AC3E}">
        <p14:creationId xmlns:p14="http://schemas.microsoft.com/office/powerpoint/2010/main" val="74246297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42A29AC-2223-DF3C-59EC-8C50C5C18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14832"/>
            <a:ext cx="12192000" cy="64333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2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>
              <a:shade val="50000"/>
            </a:schemeClr>
          </a:lnRef>
          <a:fillRef xmlns:a="http://schemas.openxmlformats.org/drawingml/2006/main" idx="1">
            <a:schemeClr val="dk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4F6C920-528D-C634-4883-20025889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11567"/>
            <a:ext cx="12192000" cy="702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85C4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A887055-60BA-276D-57AE-08D0A46CB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039" y="5573733"/>
            <a:ext cx="6400800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800">
                <a:solidFill>
                  <a:schemeClr val="bg1"/>
                </a:solidFill>
                <a:latin typeface="PF Centro Sans Pro"/>
                <a:ea typeface="PF Centro Sans Pro"/>
                <a:cs typeface="PF Centro Sans Pro"/>
              </a:rPr>
              <a:t>Проблема/ анализ ситуации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39E70AE-F006-2992-3B39-3688D60B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210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Задача предприятия: замечать устойчивые нарушения и быстро передавать их ответственному сотруднику.</a:t>
            </a:r>
          </a:p>
        </p:txBody>
      </p:sp>
      <p:pic>
        <p:nvPicPr>
          <p:cNvPr id="18" name="Рисунок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4dd5724ca447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99733" y="6319490"/>
            <a:ext cx="2138400" cy="190851"/>
          </a:xfrm>
          <a:prstGeom xmlns:a="http://schemas.openxmlformats.org/drawingml/2006/main" prst="rect">
            <a:avLst/>
          </a:prstGeom>
        </p:spPr>
      </p:pic>
      <p:graphicFrame>
        <p:nvGraphicFramePr>
          <p:cNvPr id="19" name=""/>
          <p:cNvGraphicFramePr/>
          <p:nvPr/>
        </p:nvGraphicFramePr>
        <p:xfrm>
          <a:off xmlns:a="http://schemas.openxmlformats.org/drawingml/2006/main" x="762000" y="1524000"/>
          <a:ext xmlns:a="http://schemas.openxmlformats.org/drawingml/2006/main" cx="1066800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3429000"/>
                <a:gridCol w="3905250"/>
              </a:tblGrid>
              <a:tr h="5429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Текущий подход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Сильная сторона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Ограничение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</a:tr>
              <a:tr h="5429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Обходы и ручной просмотр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Человек понимает контекст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Нельзя непрерывно видеть все камеры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</a:tr>
              <a:tr h="5429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Обычная запись видеонаблюдения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Сохраняет материал для разбора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Требует поиска нужного эпизода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</a:tr>
              <a:tr h="5429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Носимые датчики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Работают вне видимости камер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Нужно выдавать и обслуживать устройства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</a:tr>
              <a:tr h="5429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Видеоаналитика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Автоматически выделяет события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Зависит от ракурса, света и качества моделей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064057-FACE-4E44-91B4-DEFAB2040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Гипотеза эффекта: меньше времени на просмотр повторов и поиск эпизодов.</a:t>
            </a:r>
          </a:p>
          <a:p xmlns:a="http://schemas.openxmlformats.org/drawingml/2006/main">
            <a:pPr algn="l">
              <a:def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Размер экономии и влияние на безопасность измеряются на пилоте.</a:t>
            </a:r>
          </a:p>
        </p:txBody>
      </p:sp>
    </p:spTree>
    <p:extLst>
      <p:ext uri="{BB962C8B-B14F-4D97-AF65-F5344CB8AC3E}">
        <p14:creationId xmlns:p14="http://schemas.microsoft.com/office/powerpoint/2010/main" val="260235072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7895A4B-9C46-D7C4-7A98-AEA2547B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60191"/>
            <a:ext cx="12192000" cy="29797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>
              <a:shade val="50000"/>
            </a:schemeClr>
          </a:lnRef>
          <a:fillRef xmlns:a="http://schemas.openxmlformats.org/drawingml/2006/main" idx="1">
            <a:schemeClr val="dk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9360E6A-200F-F7A6-E15D-E60FECDF0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77649"/>
            <a:ext cx="12192000" cy="87245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2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9AE0A3B-4F15-63BF-2A9D-039F4DFC4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86" y="5917412"/>
            <a:ext cx="6400800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800">
                <a:solidFill>
                  <a:schemeClr val="bg1"/>
                </a:solidFill>
                <a:latin typeface="PF Centro Sans Pro"/>
                <a:ea typeface="PF Centro Sans Pro"/>
                <a:cs typeface="PF Centro Sans Pro"/>
              </a:rPr>
              <a:t>Решение/описание продукта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E0BAC9F-1DCC-7723-0EFA-651047998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1500"/>
            <a:ext cx="4429125" cy="3429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80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Контроль зон и журнал нарушений</a:t>
            </a:r>
            <a:endParaRPr sz="1200">
              <a:latin typeface="Aptos"/>
              <a:ea typeface="Aptos"/>
              <a:cs typeface="Aptos"/>
            </a:endParaRPr>
          </a:p>
          <a:p xmlns:a="http://schemas.openxmlformats.org/drawingml/2006/main">
            <a:pPr algn="just">
              <a:buNone/>
            </a:pPr>
            <a:r>
              <a:rPr sz="1400">
                <a:latin typeface="Times New Roman"/>
                <a:ea typeface="Times New Roman"/>
                <a:cs typeface="Times New Roman"/>
              </a:rPr>
              <a:t/>
            </a:r>
          </a:p>
          <a:p xmlns:a="http://schemas.openxmlformats.org/drawingml/2006/main">
            <a:pPr algn="l">
              <a:buNone/>
              <a:defRPr sz="180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80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Полигональные зоны, треки людей, временная фильтрация событий, статусы и комментарии оператора, CSV-отчёты.</a:t>
            </a:r>
            <a:endParaRPr sz="1600">
              <a:latin typeface="PF Centro Sans Pro"/>
              <a:ea typeface="PF Centro Sans Pro"/>
              <a:cs typeface="PF Centro Sans Pro"/>
            </a:endParaRPr>
          </a:p>
          <a:p xmlns:a="http://schemas.openxmlformats.org/drawingml/2006/main">
            <a:pPr algn="just">
              <a:buNone/>
            </a:pPr>
            <a:r>
              <a:rPr sz="1600">
                <a:latin typeface="PF Centro Sans Pro"/>
                <a:ea typeface="PF Centro Sans Pro"/>
                <a:cs typeface="PF Centro Sans Pro"/>
              </a:rPr>
              <a:t/>
            </a:r>
          </a:p>
          <a:p xmlns:a="http://schemas.openxmlformats.org/drawingml/2006/main">
            <a:pPr algn="l">
              <a:buNone/>
              <a:defRPr sz="180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80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Архитектура поддерживает каскад: человек, СИЗ по crop, поза, временной классификатор поведения.</a:t>
            </a:r>
          </a:p>
        </p:txBody>
      </p:sp>
      <p:pic>
        <p:nvPicPr>
          <p:cNvPr id="19" name="Рисунок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401b11e14745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99733" y="6654770"/>
            <a:ext cx="2138400" cy="190851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5f4c1256934810"/>
          <a:stretch xmlns:a="http://schemas.openxmlformats.org/drawingml/2006/main"/>
        </p:blipFill>
        <p:spPr>
          <a:xfrm xmlns:a="http://schemas.openxmlformats.org/drawingml/2006/main">
            <a:off x="5779107" y="476250"/>
            <a:ext cx="5443911" cy="39052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F923FC-AD57-47CC-8B6F-7A65D4FB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429125"/>
            <a:ext cx="590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35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Экран настройки зон. Синтетическая сцена.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269D71-EEB1-4A8B-AC67-851C48EF2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10810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5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Детектор людей YOLO11n подключён. Модели СИЗ и поведения пока не установлены.</a:t>
            </a:r>
          </a:p>
          <a:p xmlns:a="http://schemas.openxmlformats.org/drawingml/2006/main">
            <a:pPr algn="l">
              <a:defRPr sz="15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5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Ценность для проверки на пилоте: меньше повторных тревог и быстрее разбор одного эпизода.</a:t>
            </a:r>
          </a:p>
        </p:txBody>
      </p:sp>
    </p:spTree>
    <p:extLst>
      <p:ext uri="{BB962C8B-B14F-4D97-AF65-F5344CB8AC3E}">
        <p14:creationId xmlns:p14="http://schemas.microsoft.com/office/powerpoint/2010/main" val="9013161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72B058E-1AD6-0FDB-9EB7-4A5AD4B2F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78168"/>
            <a:ext cx="12192000" cy="1080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>
              <a:shade val="50000"/>
            </a:schemeClr>
          </a:lnRef>
          <a:fillRef xmlns:a="http://schemas.openxmlformats.org/drawingml/2006/main" idx="1">
            <a:schemeClr val="dk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7654881-681A-B4CA-C9D3-F9567520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21998"/>
            <a:ext cx="12192000" cy="578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85C4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90E9071-80E3-0DDE-FD1D-E469930A6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961337"/>
            <a:ext cx="6400800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r>
              <a:rPr sz="2800">
                <a:solidFill>
                  <a:schemeClr val="bg1"/>
                </a:solidFill>
                <a:latin typeface="PF Centro Sans Pro"/>
                <a:ea typeface="PF Centro Sans Pro"/>
                <a:cs typeface="PF Centro Sans Pro"/>
              </a:rPr>
              <a:t/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DA7283E-AA61-114E-D351-F75965EB0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57300"/>
            <a:ext cx="10763250" cy="809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6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Целевые заказчики: промышленные предприятия с IP-камерами. Пользователи: служба охраны труда и диспетчер. Решение о пилоте принимается совместно с ИТ и ИБ.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FB2FC05-A877-C7D7-4DD1-A106B01B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831" y="370334"/>
            <a:ext cx="6094602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800">
                <a:solidFill>
                  <a:srgbClr val="4B5055"/>
                </a:solidFill>
                <a:latin typeface="PF Centro Sans Pro"/>
                <a:ea typeface="PF Centro Sans Pro"/>
                <a:cs typeface="PF Centro Sans Pro"/>
              </a:rPr>
              <a:t>Анализ целевого рынка</a:t>
            </a:r>
          </a:p>
        </p:txBody>
      </p:sp>
      <p:pic>
        <p:nvPicPr>
          <p:cNvPr id="20" name="Рисунок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a1470ea46f4a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53600" y="6664930"/>
            <a:ext cx="2138400" cy="190851"/>
          </a:xfrm>
          <a:prstGeom xmlns:a="http://schemas.openxmlformats.org/drawingml/2006/main" prst="rect">
            <a:avLst/>
          </a:prstGeom>
        </p:spPr>
      </p:pic>
      <p:graphicFrame>
        <p:nvGraphicFramePr>
          <p:cNvPr id="21" name=""/>
          <p:cNvGraphicFramePr/>
          <p:nvPr/>
        </p:nvGraphicFramePr>
        <p:xfrm>
          <a:off xmlns:a="http://schemas.openxmlformats.org/drawingml/2006/main" x="762000" y="2286000"/>
          <a:ext xmlns:a="http://schemas.openxmlformats.org/drawingml/2006/main" cx="10668000" cy="2190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4000500"/>
                <a:gridCol w="3619500"/>
              </a:tblGrid>
              <a:tr h="5476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Решение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Что предлагает поставщик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Что проверить при сравнении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</a:tr>
              <a:tr h="5476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TRASSIR Hardhat Detector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Специализированный детектор касок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Совместимость, сервер и цена каналов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</a:tr>
              <a:tr h="5476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Малленом EYECONT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Контроль СИЗ, журнал тревог, оповещения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Смета и настройка на конкретном участке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</a:tr>
              <a:tr h="5476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NtechLab FindFace Multi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Распознавание силуэтов и действий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Состав HSE-модулей и условия интеграции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4DFA0F-03EF-4929-9390-90C207987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9625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65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Цены аналогов: сопоставимые коммерческие предложения не получены.</a:t>
            </a:r>
          </a:p>
          <a:p xmlns:a="http://schemas.openxmlformats.org/drawingml/2006/main">
            <a:pPr algn="l">
              <a:defRPr sz="165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65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Преимущество HSE AI-Video по цене и точности пока не доказано.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BFF270-87DD-4224-93F0-3D99D6026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2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Источники: trassir.ru, mallenom.ru, ntechlab.ru. Полные ссылки в пояснениях.</a:t>
            </a:r>
          </a:p>
          <a:p xmlns:a="http://schemas.openxmlformats.org/drawingml/2006/main">
            <a:pPr algn="l">
              <a:defRPr sz="12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2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Размер и темп роста рынка не оценены. На следующем этапе: интервью и запросы цен.</a:t>
            </a:r>
          </a:p>
        </p:txBody>
      </p:sp>
    </p:spTree>
    <p:extLst>
      <p:ext uri="{BB962C8B-B14F-4D97-AF65-F5344CB8AC3E}">
        <p14:creationId xmlns:p14="http://schemas.microsoft.com/office/powerpoint/2010/main" val="71077428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4C69C50-FF36-5DA5-1AE5-C0B7884C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78168"/>
            <a:ext cx="12192000" cy="1080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>
              <a:shade val="50000"/>
            </a:schemeClr>
          </a:lnRef>
          <a:fillRef xmlns:a="http://schemas.openxmlformats.org/drawingml/2006/main" idx="1">
            <a:schemeClr val="dk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E30865E-53CE-BE75-AE52-4F9E6405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831524"/>
            <a:ext cx="12192000" cy="818579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2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DDDDE5F-43E9-6B5F-209C-B6F74239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165" y="6056558"/>
            <a:ext cx="8638738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800">
                <a:solidFill>
                  <a:schemeClr val="bg1"/>
                </a:solidFill>
                <a:latin typeface="PF Centro Sans Pro"/>
                <a:ea typeface="PF Centro Sans Pro"/>
                <a:cs typeface="PF Centro Sans Pro"/>
              </a:rPr>
              <a:t>Оценка спроса и планируемая доля рынка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57C1CD6-09E6-37AA-4234-B18FEAD2E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87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Модель продаж: локальная лицензия, внедрение и ежегодная поддержка.</a:t>
            </a:r>
          </a:p>
          <a:p xmlns:a="http://schemas.openxmlformats.org/drawingml/2006/main">
            <a:pPr algn="l">
              <a:buNone/>
              <a:defRPr sz="187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87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Предварительная цена пакета до 8 камер: 480 тыс. руб. Поддержка со второго года: 96 тыс. руб./год.</a:t>
            </a:r>
            <a:endParaRPr sz="1600">
              <a:latin typeface="PF Centro Sans Pro"/>
              <a:ea typeface="PF Centro Sans Pro"/>
              <a:cs typeface="PF Centro Sans Pro"/>
            </a:endParaRPr>
          </a:p>
        </p:txBody>
      </p:sp>
      <p:pic>
        <p:nvPicPr>
          <p:cNvPr id="19" name="Рисунок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1c226104fa4a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1973" y="6655604"/>
            <a:ext cx="2138400" cy="190851"/>
          </a:xfrm>
          <a:prstGeom xmlns:a="http://schemas.openxmlformats.org/drawingml/2006/main" prst="rect">
            <a:avLst/>
          </a:prstGeom>
        </p:spPr>
      </p:pic>
      <p:graphicFrame>
        <p:nvGraphicFramePr>
          <p:cNvPr id="20" name=""/>
          <p:cNvGraphicFramePr/>
          <p:nvPr/>
        </p:nvGraphicFramePr>
        <p:xfrm>
          <a:off xmlns:a="http://schemas.openxmlformats.org/drawingml/2006/main" x="762000" y="1857375"/>
          <a:ext xmlns:a="http://schemas.openxmlformats.org/drawingml/2006/main" cx="10668000" cy="2000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096000"/>
                <a:gridCol w="1524000"/>
                <a:gridCol w="1524000"/>
                <a:gridCol w="1524000"/>
              </a:tblGrid>
              <a:tr h="50006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Новые площадки за год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Год 1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Год 2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Год 3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</a:tr>
              <a:tr h="50006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Консервативный сценарий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6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</a:tr>
              <a:tr h="50006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Базовый сценарий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6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12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</a:tr>
              <a:tr h="50006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Ускоренный сценарий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10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20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40224D-4009-45CD-9F35-4314D2D1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9575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Основание: плановая пропускная способность небольшой команды, а не подтверждённые предзаказы. Интервью, письма интереса и воронку продаж нужно собрать.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318FF6-6CB1-48F5-9E96-EE567F6CB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053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5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Целевой масштаб 200 площадок при условной цене 480 тыс. руб. даёт 96 млн руб. разовых продаж. Это сценарий расширения, не размер рынка и не текущая доля.</a:t>
            </a:r>
          </a:p>
        </p:txBody>
      </p:sp>
    </p:spTree>
    <p:extLst>
      <p:ext uri="{BB962C8B-B14F-4D97-AF65-F5344CB8AC3E}">
        <p14:creationId xmlns:p14="http://schemas.microsoft.com/office/powerpoint/2010/main" val="207574458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2CBC678-5F12-25E5-786F-AFC8A55C1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78168"/>
            <a:ext cx="12192000" cy="1080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2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>
              <a:shade val="50000"/>
            </a:schemeClr>
          </a:lnRef>
          <a:fillRef xmlns:a="http://schemas.openxmlformats.org/drawingml/2006/main" idx="1">
            <a:schemeClr val="dk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1E8DC14-7404-C80D-CFB7-704968C53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48371"/>
            <a:ext cx="12192000" cy="698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85C4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4DADEF5-CEE1-524E-25CD-03DC33E3B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1" y="6056558"/>
            <a:ext cx="9091744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800">
                <a:solidFill>
                  <a:schemeClr val="bg1"/>
                </a:solidFill>
                <a:latin typeface="PF Centro Sans Pro"/>
                <a:ea typeface="PF Centro Sans Pro"/>
                <a:cs typeface="PF Centro Sans Pro"/>
              </a:rPr>
              <a:t>Техническое и технологическое обоснование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9FD1899-68B6-ED1E-8FCD-6BA767FED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38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202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Реализованная цепочка прототипа</a:t>
            </a:r>
            <a:endParaRPr sz="1200">
              <a:latin typeface="Aptos"/>
              <a:ea typeface="Aptos"/>
              <a:cs typeface="Aptos"/>
            </a:endParaRPr>
          </a:p>
        </p:txBody>
      </p:sp>
      <p:pic>
        <p:nvPicPr>
          <p:cNvPr id="28" name="Рисунок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03982bad9541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43440" y="10160"/>
            <a:ext cx="2138400" cy="190851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1DFE84-7268-4F9F-AD94-8A866B59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33500"/>
            <a:ext cx="20478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DF7"/>
          </a:solidFill>
          <a:ln xmlns:a="http://schemas.openxmlformats.org/drawingml/2006/main" w="9525">
            <a:solidFill>
              <a:srgbClr val="5A89C5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6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IP-камеры</a:t>
            </a:r>
          </a:p>
          <a:p xmlns:a="http://schemas.openxmlformats.org/drawingml/2006/main">
            <a:pPr>
              <a:defRPr sz="16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6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RTSP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52A9DC-0D21-4825-9AC2-A9FF9E2FA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1743075"/>
            <a:ext cx="1905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A89C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C9E18B-33B2-4F35-B5C7-BA3A47366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333500"/>
            <a:ext cx="20478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DF7"/>
          </a:solidFill>
          <a:ln xmlns:a="http://schemas.openxmlformats.org/drawingml/2006/main" w="9525">
            <a:solidFill>
              <a:srgbClr val="5A89C5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6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Инжестирование</a:t>
            </a:r>
          </a:p>
          <a:p xmlns:a="http://schemas.openxmlformats.org/drawingml/2006/main">
            <a:pPr>
              <a:defRPr sz="16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6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PyAV, свежий кадр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168D5C-15E8-42B9-A600-2F0374DFE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743075"/>
            <a:ext cx="1905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A89C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5E820C-1BF4-462F-AAB6-131AE6E7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1333500"/>
            <a:ext cx="20478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DF7"/>
          </a:solidFill>
          <a:ln xmlns:a="http://schemas.openxmlformats.org/drawingml/2006/main" w="9525">
            <a:solidFill>
              <a:srgbClr val="5A89C5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6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AI-сервис</a:t>
            </a:r>
          </a:p>
          <a:p xmlns:a="http://schemas.openxmlformats.org/drawingml/2006/main">
            <a:pPr>
              <a:defRPr sz="16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6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ONNX, ByteTrack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D477AC-6219-42F6-94F3-940A5C3F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743075"/>
            <a:ext cx="1905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A89C5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80C441-4BCE-4A0F-9405-DAC43E7E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333500"/>
            <a:ext cx="20478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DF7"/>
          </a:solidFill>
          <a:ln xmlns:a="http://schemas.openxmlformats.org/drawingml/2006/main" w="9525">
            <a:solidFill>
              <a:srgbClr val="5A89C5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6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События</a:t>
            </a:r>
          </a:p>
          <a:p xmlns:a="http://schemas.openxmlformats.org/drawingml/2006/main">
            <a:pPr>
              <a:defRPr sz="16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6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FastAPI, SQL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93543C-0F6B-4170-85C6-961A3EEC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743075"/>
            <a:ext cx="1905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A89C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307EE6-8089-409D-8498-83A1F6F9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1333500"/>
            <a:ext cx="20478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DF7"/>
          </a:solidFill>
          <a:ln xmlns:a="http://schemas.openxmlformats.org/drawingml/2006/main" w="9525">
            <a:solidFill>
              <a:srgbClr val="5A89C5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6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Оператор</a:t>
            </a:r>
          </a:p>
          <a:p xmlns:a="http://schemas.openxmlformats.org/drawingml/2006/main">
            <a:pPr>
              <a:defRPr sz="16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6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React, Canvas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13623D-60CA-454E-94BE-C6F27D43C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622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80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Доставка: HTTP между сервисами, WebSocket в браузер. PostgreSQL, Redis и S3 предусмотрены в Compose. Локальная демонстрация использует SQLite.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5A82E0-DEFD-4543-9676-F594B6764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67125"/>
            <a:ext cx="1085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Пилот: существующие камеры и локальная сеть, сервер по результатам замера нагрузки. Оценочный бюджет тестового сервера: 300 тыс. руб. Поставщик и конфигурация пока не выбраны.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3317F7-94D0-49EC-84D6-3AD54368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434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5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Triton, OpenVINO и gRPC: возможное развитие. Их производительность не заявляется.</a:t>
            </a:r>
          </a:p>
          <a:p xmlns:a="http://schemas.openxmlformats.org/drawingml/2006/main">
            <a:pPr algn="l">
              <a:defRPr sz="15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5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Сборка для закрытого контура требует переноса образов и проверки лицензий моделей.</a:t>
            </a:r>
          </a:p>
        </p:txBody>
      </p:sp>
    </p:spTree>
    <p:extLst>
      <p:ext uri="{BB962C8B-B14F-4D97-AF65-F5344CB8AC3E}">
        <p14:creationId xmlns:p14="http://schemas.microsoft.com/office/powerpoint/2010/main" val="342452271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714A476-7B83-7E5D-D95B-DD7D85A7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78168"/>
            <a:ext cx="12192000" cy="1080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>
              <a:shade val="50000"/>
            </a:schemeClr>
          </a:lnRef>
          <a:fillRef xmlns:a="http://schemas.openxmlformats.org/drawingml/2006/main" idx="1">
            <a:schemeClr val="dk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4DFE51C-3AA5-C656-C211-C5F2CACD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78167"/>
            <a:ext cx="12192000" cy="87193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2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5F15923-0957-EF27-86C3-F114CD8AC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928" y="5969306"/>
            <a:ext cx="6400800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800">
                <a:solidFill>
                  <a:schemeClr val="bg1"/>
                </a:solidFill>
                <a:latin typeface="PF Centro Sans Pro"/>
                <a:ea typeface="PF Centro Sans Pro"/>
                <a:cs typeface="PF Centro Sans Pro"/>
              </a:rPr>
              <a:t>Трудовые ресурсы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47E40F0-2B56-4C02-CB4E-FBC2A06D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"/>
            <a:ext cx="1066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9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Текущий инициатор: Павлов Иван Владимирович.</a:t>
            </a:r>
          </a:p>
          <a:p xmlns:a="http://schemas.openxmlformats.org/drawingml/2006/main">
            <a:pPr algn="l">
              <a:buNone/>
              <a:defRPr sz="19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95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Для трёхмесячного этапа подготовки пилота предлагается привлечь специалистов.</a:t>
            </a:r>
          </a:p>
        </p:txBody>
      </p:sp>
      <p:pic>
        <p:nvPicPr>
          <p:cNvPr id="18" name="Рисунок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79cc87f7fe41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53600" y="6650102"/>
            <a:ext cx="2138400" cy="190851"/>
          </a:xfrm>
          <a:prstGeom xmlns:a="http://schemas.openxmlformats.org/drawingml/2006/main" prst="rect">
            <a:avLst/>
          </a:prstGeom>
        </p:spPr>
      </p:pic>
      <p:graphicFrame>
        <p:nvGraphicFramePr>
          <p:cNvPr id="19" name=""/>
          <p:cNvGraphicFramePr/>
          <p:nvPr/>
        </p:nvGraphicFramePr>
        <p:xfrm>
          <a:off xmlns:a="http://schemas.openxmlformats.org/drawingml/2006/main" x="762000" y="1809750"/>
          <a:ext xmlns:a="http://schemas.openxmlformats.org/drawingml/2006/main" cx="106680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4095750"/>
                <a:gridCol w="2952750"/>
              </a:tblGrid>
              <a:tr h="533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Роль, план привлечения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Нагрузка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Бюджет за 3 месяца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ML-инженер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Модели, данные, оценка качества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360 тыс. руб.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Разработчик платформы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API, интерфейс, интеграция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300 тыс. руб.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QA и эксперт охраны труда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Разметка, сценарии, испытания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240 тыс. руб.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Итого работы команды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Состав и договоры предстоит определить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900 тыс. руб.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D38FDF-D455-4498-A494-AD45E6532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65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Оценка стоимости работ с сопутствующими выплатами, не действующий ФОТ.</a:t>
            </a:r>
          </a:p>
          <a:p xmlns:a="http://schemas.openxmlformats.org/drawingml/2006/main">
            <a:pPr algn="l">
              <a:defRPr sz="165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65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Эксперт заказчика участвует в согласовании зон, правил и реакции на события.</a:t>
            </a:r>
          </a:p>
        </p:txBody>
      </p:sp>
    </p:spTree>
    <p:extLst>
      <p:ext uri="{BB962C8B-B14F-4D97-AF65-F5344CB8AC3E}">
        <p14:creationId xmlns:p14="http://schemas.microsoft.com/office/powerpoint/2010/main" val="261668659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4D0ECBE-C695-4525-B13C-46F0B0BA0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78000"/>
            <a:ext cx="12192000" cy="1980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>
              <a:shade val="50000"/>
            </a:schemeClr>
          </a:lnRef>
          <a:fillRef xmlns:a="http://schemas.openxmlformats.org/drawingml/2006/main" idx="1">
            <a:schemeClr val="dk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bg1"/>
              </a:solidFill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E0C98A8-EAAA-4691-964F-54C78A930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31158"/>
            <a:ext cx="12192000" cy="72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2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908C388-812D-4B7A-ADC4-50255A712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59619"/>
            <a:ext cx="6124074" cy="101507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2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>
                <a:latin typeface="PF Centro Sans Pro"/>
                <a:ea typeface="PF Centro Sans Pro"/>
                <a:cs typeface="PF Centro Sans Pro"/>
              </a:rPr>
              <a:t>Организационный план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820818D-611D-4785-B9E6-DCAB77A12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43840"/>
            <a:ext cx="6153324" cy="55399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r>
              <a:rPr sz="3000">
                <a:solidFill>
                  <a:schemeClr val="bg1"/>
                </a:solidFill>
                <a:latin typeface="PF Centro Sans Pro"/>
                <a:ea typeface="PF Centro Sans Pro"/>
                <a:cs typeface="PF Centro Sans Pro"/>
              </a:rPr>
              <a:t/>
            </a:r>
            <a:endParaRPr sz="3000"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E078AAC-AF2D-8FA3-0066-D4913E83E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150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87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Инициатор: физическое лицо. Форму коммерческой деятельности и права на используемые компоненты необходимо определить до начала продаж.</a:t>
            </a:r>
            <a:endParaRPr sz="1600">
              <a:latin typeface="PF Centro Sans Pro"/>
              <a:ea typeface="PF Centro Sans Pro"/>
              <a:cs typeface="PF Centro Sans Pro"/>
            </a:endParaRPr>
          </a:p>
        </p:txBody>
      </p:sp>
      <p:pic>
        <p:nvPicPr>
          <p:cNvPr id="20" name="Рисунок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757882b18e47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31813" y="6085810"/>
            <a:ext cx="2138400" cy="190851"/>
          </a:xfrm>
          <a:prstGeom xmlns:a="http://schemas.openxmlformats.org/drawingml/2006/main" prst="rect">
            <a:avLst/>
          </a:prstGeom>
        </p:spPr>
      </p:pic>
      <p:graphicFrame>
        <p:nvGraphicFramePr>
          <p:cNvPr id="21" name=""/>
          <p:cNvGraphicFramePr/>
          <p:nvPr/>
        </p:nvGraphicFramePr>
        <p:xfrm>
          <a:off xmlns:a="http://schemas.openxmlformats.org/drawingml/2006/main" x="619125" y="1714500"/>
          <a:ext xmlns:a="http://schemas.openxmlformats.org/drawingml/2006/main" cx="10858500" cy="2619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81375"/>
                <a:gridCol w="4714875"/>
                <a:gridCol w="2762250"/>
              </a:tblGrid>
              <a:tr h="5238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Этап от начала пилотного проекта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Результат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Ответственный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</a:tr>
              <a:tr h="5238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Месяц 1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Партнёр, доступ к видео, выборка и критерии приёмки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Инициатор и заказчик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</a:tr>
              <a:tr h="5238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Месяцы 2–3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Подключённые модели, оценка на отложенной выборке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ML и разработчик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</a:tr>
              <a:tr h="5238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Месяцы 4–5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Пилот на 1–2 участках, качество и нагрузка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Команда и служба ОТ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</a:tr>
              <a:tr h="5238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Месяц 6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Решение о внедрении, договоры и пакет установки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Инициатор и ИТ заказчика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D0C00D-1DBC-4363-B6C5-7418D8312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953000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65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Следующий этап: тиражирование после успешного пилота. Сроки зависят от доступа к данным, договоров и результатов испытаний.</a:t>
            </a:r>
          </a:p>
        </p:txBody>
      </p:sp>
    </p:spTree>
    <p:extLst>
      <p:ext uri="{BB962C8B-B14F-4D97-AF65-F5344CB8AC3E}">
        <p14:creationId xmlns:p14="http://schemas.microsoft.com/office/powerpoint/2010/main" val="311963321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3AB4887-DA77-460E-A793-7295C862E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88820"/>
            <a:ext cx="12192000" cy="106934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2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>
              <a:shade val="50000"/>
            </a:schemeClr>
          </a:lnRef>
          <a:fillRef xmlns:a="http://schemas.openxmlformats.org/drawingml/2006/main" idx="1">
            <a:schemeClr val="dk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474FF4A-CC40-4F15-B4E5-067DF8947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46399"/>
            <a:ext cx="12192000" cy="8484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85C4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8960CC8-FBB9-4F74-877C-8CC84E540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397" y="5968820"/>
            <a:ext cx="10382512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800">
                <a:solidFill>
                  <a:schemeClr val="bg1"/>
                </a:solidFill>
                <a:latin typeface="PF Centro Sans Pro"/>
                <a:ea typeface="PF Centro Sans Pro"/>
                <a:cs typeface="PF Centro Sans Pro"/>
              </a:rPr>
              <a:t>Финансовое обоснование/ экономика проекта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3A61E85-9BBE-54F0-71DD-75E249920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8100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202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Финансовая гипотеза. Все суммы в млн руб., округлены.</a:t>
            </a:r>
            <a:endParaRPr sz="1400">
              <a:latin typeface="PF Centro Sans Pro"/>
              <a:ea typeface="PF Centro Sans Pro"/>
              <a:cs typeface="PF Centro Sans Pro"/>
            </a:endParaRPr>
          </a:p>
        </p:txBody>
      </p:sp>
      <p:pic>
        <p:nvPicPr>
          <p:cNvPr id="20" name="Рисунок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fa2c25c20d46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31813" y="5852130"/>
            <a:ext cx="2138400" cy="190851"/>
          </a:xfrm>
          <a:prstGeom xmlns:a="http://schemas.openxmlformats.org/drawingml/2006/main" prst="rect">
            <a:avLst/>
          </a:prstGeom>
        </p:spPr>
      </p:pic>
      <p:graphicFrame>
        <p:nvGraphicFramePr>
          <p:cNvPr id="21" name=""/>
          <p:cNvGraphicFramePr/>
          <p:nvPr/>
        </p:nvGraphicFramePr>
        <p:xfrm>
          <a:off xmlns:a="http://schemas.openxmlformats.org/drawingml/2006/main" x="523875" y="1047750"/>
          <a:ext xmlns:a="http://schemas.openxmlformats.org/drawingml/2006/main" cx="11144250" cy="2286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29250"/>
                <a:gridCol w="1905000"/>
                <a:gridCol w="1905000"/>
                <a:gridCol w="1905000"/>
              </a:tblGrid>
              <a:tr h="3810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Показатель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Год 1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Год 2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Год 3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</a:tr>
              <a:tr h="3810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Новые площадки, шт.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6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12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</a:tr>
              <a:tr h="3810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Выручка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1,440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3,168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6,624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</a:tr>
              <a:tr h="3810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Прямые / постоянные расходы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0,360 / 1,200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0,828 / 1,500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1,764 / 1,800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</a:tr>
              <a:tr h="3810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Условный налоговый резерв 6%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0,086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0,190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0,397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</a:tr>
              <a:tr h="3810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Денежный поток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−0,206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0,650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2,663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7251C9-77E5-4B1D-9ACD-BDCACB809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524250"/>
            <a:ext cx="1114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5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Первоначальные затраты: 1,50 млн руб. (работы 0,90 + сервер 0,30 + данные и испытания 0,30).</a:t>
            </a:r>
          </a:p>
          <a:p xmlns:a="http://schemas.openxmlformats.org/drawingml/2006/main">
            <a:pPr algn="l">
              <a:defRPr sz="15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5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Финансирование с учётом дефицита первого года: 1,71 млн руб.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338039-BB69-4F87-A248-090D1223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286250"/>
            <a:ext cx="1114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NPV (20%, 3 года): 0,32 млн руб.  IRR: 28,1%.</a:t>
            </a:r>
          </a:p>
          <a:p xmlns:a="http://schemas.openxmlformats.org/drawingml/2006/main">
            <a:pPr algn="l">
              <a:def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Окупаемость: 2,40 года, дисконтированная: 2,79 года. BEP года 1: 4 внедрения / 1,92 млн руб.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13B5B4-F482-4279-B00F-F49EDA61A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48250"/>
            <a:ext cx="111442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2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Себестоимость внедрения: 120 тыс. руб. + доля постоянных расходов (400 тыс. руб. в году 1).</a:t>
            </a:r>
          </a:p>
          <a:p xmlns:a="http://schemas.openxmlformats.org/drawingml/2006/main">
            <a:pPr algn="l">
              <a:defRPr sz="12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2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Налоги и НДС требуют уточнения. Камеры, сервер клиента и дообучение оплачиваются отдельно.</a:t>
            </a:r>
          </a:p>
          <a:p xmlns:a="http://schemas.openxmlformats.org/drawingml/2006/main">
            <a:pPr algn="l">
              <a:defRPr sz="12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2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Подробная модель: приложение Excel. Предзаказы и доходность не подтверждены.</a:t>
            </a:r>
          </a:p>
        </p:txBody>
      </p:sp>
    </p:spTree>
    <p:extLst>
      <p:ext uri="{BB962C8B-B14F-4D97-AF65-F5344CB8AC3E}">
        <p14:creationId xmlns:p14="http://schemas.microsoft.com/office/powerpoint/2010/main" val="297658777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A12F8DA-B040-4715-A1BC-DC24623D3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847126"/>
            <a:ext cx="12192000" cy="1010873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>
              <a:shade val="50000"/>
            </a:schemeClr>
          </a:lnRef>
          <a:fillRef xmlns:a="http://schemas.openxmlformats.org/drawingml/2006/main" idx="1">
            <a:schemeClr val="dk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bg1"/>
              </a:solidFill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F332156-E97A-4AA7-ACF5-26CD6F78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0562"/>
            <a:ext cx="12192000" cy="72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2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C01591C-336A-4149-83B1-C8D9AFB94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922628"/>
            <a:ext cx="7659148" cy="7466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2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latin typeface="PF Centro Sans Pro"/>
              <a:ea typeface="PF Centro Sans Pro"/>
              <a:cs typeface="PF Centro Sans Pro"/>
            </a:endParaR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4044D61-FD37-4CF8-A28F-B1B1D568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096" y="5996577"/>
            <a:ext cx="7028052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800">
                <a:solidFill>
                  <a:schemeClr val="bg1"/>
                </a:solidFill>
                <a:latin typeface="PF Centro Sans Pro"/>
                <a:ea typeface="PF Centro Sans Pro"/>
                <a:cs typeface="PF Centro Sans Pro"/>
              </a:rPr>
              <a:t>Анализ рисков и чувствительности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EAA56A7-1FD2-07E1-4544-77368B935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81000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2025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Риски пилота и коммерческого запуска</a:t>
            </a:r>
            <a:endParaRPr sz="1200">
              <a:latin typeface="Aptos"/>
              <a:ea typeface="Aptos"/>
              <a:cs typeface="Aptos"/>
            </a:endParaRPr>
          </a:p>
        </p:txBody>
      </p:sp>
      <p:pic>
        <p:nvPicPr>
          <p:cNvPr id="20" name="Рисунок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d9c07f437a4c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81013" y="6197570"/>
            <a:ext cx="2138400" cy="190851"/>
          </a:xfrm>
          <a:prstGeom xmlns:a="http://schemas.openxmlformats.org/drawingml/2006/main" prst="rect">
            <a:avLst/>
          </a:prstGeom>
        </p:spPr>
      </p:pic>
      <p:graphicFrame>
        <p:nvGraphicFramePr>
          <p:cNvPr id="21" name=""/>
          <p:cNvGraphicFramePr/>
          <p:nvPr/>
        </p:nvGraphicFramePr>
        <p:xfrm>
          <a:off xmlns:a="http://schemas.openxmlformats.org/drawingml/2006/main" x="523875" y="1066800"/>
          <a:ext xmlns:a="http://schemas.openxmlformats.org/drawingml/2006/main" cx="1114425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2809875"/>
                <a:gridCol w="4333875"/>
              </a:tblGrid>
              <a:tr h="4953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Риск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Вероятность / ущерб*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Мера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</a:tr>
              <a:tr h="4953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Ошибки распознавания, сложные ракурсы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Высокая / высокий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Отложенная выборка, настройка камер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</a:tr>
              <a:tr h="4953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Перегрузка сервера и разрывы потока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Средняя / высокий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Замеры, пропуск кадров, reconnect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</a:tr>
              <a:tr h="4953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Задержка продаж и доступа к данным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Высокая / высокий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Письмо интереса, ограниченный пилот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</a:tr>
              <a:tr h="4953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Лицензии моделей и требования ИБ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Средняя / высокий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Проверка условий, согласование с ИБ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" name=""/>
          <p:cNvGraphicFramePr/>
          <p:nvPr/>
        </p:nvGraphicFramePr>
        <p:xfrm>
          <a:off xmlns:a="http://schemas.openxmlformats.org/drawingml/2006/main" x="523875" y="3733800"/>
          <a:ext xmlns:a="http://schemas.openxmlformats.org/drawingml/2006/main" cx="11144250" cy="1524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096000"/>
                <a:gridCol w="2524125"/>
                <a:gridCol w="2524125"/>
              </a:tblGrid>
              <a:tr h="3810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Чувствительность, горизонт 3 года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NPV при 20%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Окупаемость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</a:tr>
              <a:tr h="3810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База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+0,320 млн руб.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2,40 года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</a:tr>
              <a:tr h="3810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Продажи ниже на 20%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−0,661 млн руб.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2,95 года</a:t>
                      </a:r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</a:tr>
              <a:tr h="3810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Операционные затраты выше на 15%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−0,427 млн руб.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2,77 года</a:t>
                      </a:r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894400-938A-4F28-A89F-19025C0E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00675"/>
            <a:ext cx="11144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2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* Качественная оценка для планирования. В стресс-сценариях дисконтированной окупаемости за 3 года нет.</a:t>
            </a:r>
          </a:p>
        </p:txBody>
      </p:sp>
    </p:spTree>
    <p:extLst>
      <p:ext uri="{BB962C8B-B14F-4D97-AF65-F5344CB8AC3E}">
        <p14:creationId xmlns:p14="http://schemas.microsoft.com/office/powerpoint/2010/main" val="272463634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33C4A38-D9BD-1C3B-B718-99188E5A6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813848"/>
            <a:ext cx="12192000" cy="104415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2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dk1">
              <a:shade val="50000"/>
            </a:schemeClr>
          </a:lnRef>
          <a:fillRef xmlns:a="http://schemas.openxmlformats.org/drawingml/2006/main" idx="1">
            <a:schemeClr val="dk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bg1"/>
              </a:solidFill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3AED742-BD53-BBE5-016B-FCA584F9D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77239"/>
            <a:ext cx="12192000" cy="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85C4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34B6ACE-BC3B-7859-D78C-AB16BE82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373" y="6021577"/>
            <a:ext cx="6793160" cy="55399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3000">
                <a:solidFill>
                  <a:schemeClr val="bg1"/>
                </a:solidFill>
                <a:latin typeface="PF Centro Sans Pro"/>
                <a:ea typeface="PF Centro Sans Pro"/>
                <a:cs typeface="PF Centro Sans Pro"/>
              </a:rPr>
              <a:t>Решение работает/доказательства 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612C413-1D93-85B4-44DE-102D54AF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210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Демонстрация на реальном видео</a:t>
            </a:r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9" name="Рисунок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9efed2570744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81013" y="5841970"/>
            <a:ext cx="2138400" cy="190851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1cd661b0f74082"/>
          <a:stretch xmlns:a="http://schemas.openxmlformats.org/drawingml/2006/main"/>
        </p:blipFill>
        <p:spPr>
          <a:xfrm xmlns:a="http://schemas.openxmlformats.org/drawingml/2006/main">
            <a:off x="619125" y="1187696"/>
            <a:ext cx="6762750" cy="3434859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A66AB1-98A9-40E1-ABDA-0E822340D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095375"/>
            <a:ext cx="3857625" cy="3762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YOLO11n + ByteTrack</a:t>
            </a:r>
          </a:p>
          <a:p xmlns:a="http://schemas.openxmlformats.org/drawingml/2006/main">
            <a:pPr algn="l">
              <a:def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15,8 с видео, 127 кадров,</a:t>
            </a:r>
          </a:p>
          <a:p xmlns:a="http://schemas.openxmlformats.org/drawingml/2006/main">
            <a:pPr algn="l">
              <a:def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два ID треков.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Проверка на COCO8</a:t>
            </a:r>
          </a:p>
          <a:p xmlns:a="http://schemas.openxmlformats.org/drawingml/2006/main">
            <a:pPr algn="l">
              <a:def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8 фото, найдены 4 из 10</a:t>
            </a:r>
          </a:p>
          <a:p xmlns:a="http://schemas.openxmlformats.org/drawingml/2006/main">
            <a:pPr algn="l">
              <a:def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людей, лишних — 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Проверки программы</a:t>
            </a:r>
          </a:p>
          <a:p xmlns:a="http://schemas.openxmlformats.org/drawingml/2006/main">
            <a:pPr algn="l">
              <a:def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39 Python-тестов и</a:t>
            </a:r>
          </a:p>
          <a:p xmlns:a="http://schemas.openxmlformats.org/drawingml/2006/main">
            <a:pPr algn="l">
              <a:def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8 браузерных сценариев.</a:t>
            </a:r>
          </a:p>
          <a:p xmlns:a="http://schemas.openxmlformats.org/drawingml/2006/main">
            <a:pPr algn="l">
              <a:def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7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Сборка frontend успешна.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9673D0-2D58-4FB8-B70B-C5AD6D8C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24425"/>
            <a:ext cx="1076325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50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Видео: сохранённый реальный инференс; СИЗ и опасные зоны не оцениваются.</a:t>
            </a:r>
          </a:p>
          <a:p xmlns:a="http://schemas.openxmlformats.org/drawingml/2006/main">
            <a:pPr algn="l">
              <a:defRPr sz="150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50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COCO8 может пересекаться с обучением — это не независимая оценка точности.</a:t>
            </a:r>
          </a:p>
          <a:p xmlns:a="http://schemas.openxmlformats.org/drawingml/2006/main">
            <a:pPr algn="l">
              <a:defRPr sz="150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50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Промышленный пилот и предзаказы пока отсутствуют.</a:t>
            </a:r>
          </a:p>
        </p:txBody>
      </p:sp>
    </p:spTree>
    <p:extLst>
      <p:ext uri="{BB962C8B-B14F-4D97-AF65-F5344CB8AC3E}">
        <p14:creationId xmlns:p14="http://schemas.microsoft.com/office/powerpoint/2010/main" val="340013644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1A5036A-A076-4A7A-BC34-8E52943DE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02921"/>
            <a:ext cx="12192000" cy="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85C4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0655DE7-F390-46AF-BDEB-AB7D1CB21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410" y="431042"/>
            <a:ext cx="6400800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800">
                <a:solidFill>
                  <a:srgbClr val="4B5055"/>
                </a:solidFill>
                <a:latin typeface="PF Centro Sans Pro"/>
                <a:ea typeface="PF Centro Sans Pro"/>
                <a:cs typeface="PF Centro Sans Pro"/>
              </a:rPr>
              <a:t>Команда проекта/ключевые участники  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F07DC13-F846-6834-4DDA-371DD189C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266825"/>
            <a:ext cx="10382250" cy="1028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80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Павлов Иван Владимирович, инициатор проекта</a:t>
            </a:r>
            <a:endParaRPr sz="1600">
              <a:solidFill>
                <a:srgbClr val="4B5055"/>
              </a:solidFill>
              <a:latin typeface="PF Centro Sans Pro"/>
              <a:ea typeface="PF Centro Sans Pro"/>
              <a:cs typeface="PF Centro Sans Pro"/>
            </a:endParaRPr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800" b="0" i="0" u="none" cap="none" spc="0">
                <a:ln>
                  <a:noFill/>
                </a:ln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ivanp246459@gmail.com   +7 987 663-19-62</a:t>
            </a:r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80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Состав ниже разделяет указанного участника и планируемые роли.</a:t>
            </a:r>
            <a:endParaRPr sz="1400">
              <a:solidFill>
                <a:srgbClr val="4B5055"/>
              </a:solidFill>
              <a:latin typeface="PF Centro Sans Pro"/>
              <a:ea typeface="PF Centro Sans Pro"/>
              <a:cs typeface="PF Centro Sans Pro"/>
            </a:endParaRPr>
          </a:p>
        </p:txBody>
      </p:sp>
      <p:graphicFrame>
        <p:nvGraphicFramePr>
          <p:cNvPr id="16" name="Таблица 4"/>
          <p:cNvGraphicFramePr/>
          <p:nvPr/>
        </p:nvGraphicFramePr>
        <p:xfrm>
          <a:off xmlns:a="http://schemas.openxmlformats.org/drawingml/2006/main" x="889233" y="2575420"/>
          <a:ext xmlns:a="http://schemas.openxmlformats.org/drawingml/2006/main" cx="9957731" cy="3658049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"/>
                <a:gridCol w="1762125"/>
                <a:gridCol w="1524000"/>
                <a:gridCol w="1905000"/>
                <a:gridCol w="1143000"/>
                <a:gridCol w="1714500"/>
                <a:gridCol w="1476375"/>
              </a:tblGrid>
              <a:tr h="571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№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Участник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Статус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Ответственность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Опыт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Результат / вклад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Примечание</a:t>
                      </a:r>
                    </a:p>
                  </a:txBody>
                  <a:tcPr marL="91440" marR="91440" marT="45720" marB="45720">
                    <a:solidFill>
                      <a:srgbClr val="5A89C5"/>
                    </a:solidFill>
                  </a:tcPr>
                </a:tc>
              </a:tr>
              <a:tr h="6096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1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Павлов Иван</a:t>
                      </a:r>
                      <a:endParaRPr/>
                    </a:p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Владимирович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Инициатор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Развитие проекта</a:t>
                      </a:r>
                      <a:endParaRPr/>
                    </a:p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и заявка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Не указан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Концепция</a:t>
                      </a:r>
                      <a:endParaRPr/>
                    </a:p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HSE AI-Video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Контактное</a:t>
                      </a:r>
                      <a:endParaRPr/>
                    </a:p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лицо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</a:tr>
              <a:tr h="6096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2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Предстоит</a:t>
                      </a:r>
                      <a:endParaRPr/>
                    </a:p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привлечь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ML-инженер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Модели и</a:t>
                      </a:r>
                      <a:endParaRPr/>
                    </a:p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оценка качества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Подбор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Обучение и</a:t>
                      </a:r>
                      <a:endParaRPr/>
                    </a:p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проверка моделей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План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</a:tr>
              <a:tr h="6096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3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Предстоит</a:t>
                      </a:r>
                      <a:endParaRPr/>
                    </a:p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привлечь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Разработчик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Платформа и</a:t>
                      </a:r>
                      <a:endParaRPr/>
                    </a:p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интеграция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Подбор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Подготовка</a:t>
                      </a:r>
                      <a:endParaRPr/>
                    </a:p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к пилоту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План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</a:tr>
              <a:tr h="6096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4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Предстоит</a:t>
                      </a:r>
                      <a:endParaRPr/>
                    </a:p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привлечь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QA / эксперт ОТ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Испытания и</a:t>
                      </a:r>
                      <a:endParaRPr/>
                    </a:p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правила контроля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Подбор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Протокол</a:t>
                      </a:r>
                      <a:endParaRPr/>
                    </a:p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пилота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План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1F5FA"/>
                    </a:solidFill>
                  </a:tcPr>
                </a:tc>
              </a:tr>
              <a:tr h="6096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5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Со стороны</a:t>
                      </a:r>
                      <a:endParaRPr/>
                    </a:p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заказчика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ИТ / ИБ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Камеры, сервер</a:t>
                      </a:r>
                      <a:endParaRPr/>
                    </a:p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и доступы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Не определён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Согласование</a:t>
                      </a:r>
                      <a:endParaRPr/>
                    </a:p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развёртывания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Партнёр</a:t>
                      </a:r>
                      <a:endParaRPr/>
                    </a:p>
                    <a:p>
                      <a:r>
                        <a:rPr sz="1350" b="0">
                          <a:solidFill>
                            <a:srgbClr val="222C38"/>
                          </a:solidFill>
                          <a:latin typeface="PF Centro Sans Pro"/>
                          <a:ea typeface="PF Centro Sans Pro"/>
                          <a:cs typeface="PF Centro Sans Pro"/>
                        </a:rPr>
                        <a:t>не определён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E4EDF7"/>
                    </a:solidFill>
                  </a:tcPr>
                </a:tc>
              </a:tr>
            </a:tbl>
          </a:graphicData>
        </a:graphic>
      </p:graphicFrame>
      <p:pic>
        <p:nvPicPr>
          <p:cNvPr id="17" name="Рисунок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7929b7f47143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33280" y="918461"/>
            <a:ext cx="2138400" cy="19085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8078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A4890FF-8718-4383-B34F-4E39574F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02921"/>
            <a:ext cx="12192000" cy="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85C4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4004583-9AAD-4887-8A3C-08BE122C1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374" y="463711"/>
            <a:ext cx="6400800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800">
                <a:solidFill>
                  <a:srgbClr val="4B5055"/>
                </a:solidFill>
                <a:latin typeface="PF Centro Sans Pro"/>
                <a:ea typeface="PF Centro Sans Pro"/>
                <a:cs typeface="PF Centro Sans Pro"/>
              </a:rPr>
              <a:t>Вопросы/примечания/пояснения</a:t>
            </a:r>
          </a:p>
        </p:txBody>
      </p:sp>
      <p:pic>
        <p:nvPicPr>
          <p:cNvPr id="20" name="Рисунок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5b147335644d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11493" y="904210"/>
            <a:ext cx="2138400" cy="190851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D2681F-BCCF-4461-8855-393C301B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76375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2325" b="1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Запрос к промышленному партнёру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677DEB-0233-456A-9BE9-1E59A999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0763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202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Площадка для пилота на 1–2 участках, видеозаписи для разрешённого обучения и тестирования, эксперт охраны труда и согласованные критерии приёмки.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D0366A-6A13-4B83-9174-BBC194ECF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0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2025" b="1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Что измерим на пилоте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E1ACC1-6C02-4DC4-8C8A-93E3ED3E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8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Precision / recall по видам нарушений, ложные тревоги на камеру-час, задержку p95, доступность потоков, время оператора на разбор и стоимость канала.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F50C55-F311-4997-BA41-547F0B92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00625"/>
            <a:ext cx="1066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21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Павлов Иван Владимирович</a:t>
            </a:r>
          </a:p>
          <a:p xmlns:a="http://schemas.openxmlformats.org/drawingml/2006/main">
            <a:pPr algn="l">
              <a:defRPr sz="21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2175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ivanp246459@gmail.com   +7 987 663-19-62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2DC685-D87F-4078-817C-39927AE80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007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35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Снижение травматизма, точность 99% и экономия 70% пока не подтверждены.</a:t>
            </a:r>
          </a:p>
          <a:p xmlns:a="http://schemas.openxmlformats.org/drawingml/2006/main">
            <a:pPr algn="l">
              <a:defRPr sz="135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defRPr>
            </a:pPr>
            <a:r>
              <a:rPr sz="1350" b="0">
                <a:solidFill>
                  <a:srgbClr val="222C38"/>
                </a:solidFill>
                <a:latin typeface="PF Centro Sans Pro"/>
                <a:ea typeface="PF Centro Sans Pro"/>
                <a:cs typeface="PF Centro Sans Pro"/>
              </a:rPr>
              <a:t>Обработка в закрытом контуре не означает автоматического соответствия всем требованиям ИБ.</a:t>
            </a:r>
          </a:p>
        </p:txBody>
      </p:sp>
    </p:spTree>
    <p:extLst>
      <p:ext uri="{BB962C8B-B14F-4D97-AF65-F5344CB8AC3E}">
        <p14:creationId xmlns:p14="http://schemas.microsoft.com/office/powerpoint/2010/main" val="224932280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Павлов Иван Владимирович</dc:creator>
  <lastModifiedBy>Павлов Иван Владимирович</lastModifiedBy>
  <dc:title>HSE AI-Video</dc:title>
  <dcterms:created xsi:type="dcterms:W3CDTF">2026-09-30T17:21:01.8920000Z</dcterms:created>
  <dcterms:modified xsi:type="dcterms:W3CDTF">2026-09-30T17:21:01.8920000Z</dcterms:modified>
</coreProperties>
</file>